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3CB5EFA4-8007-4247-9860-5F5E53857E9E}" styleName="Table_0">
    <a:wholeTbl>
      <a:tcTxStyle b="off" i="off">
        <a:font>
          <a:latin typeface="Bookman Old Style"/>
          <a:ea typeface="Bookman Old Style"/>
          <a:cs typeface="Bookman Old Style"/>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tableStyles" Target="tableStyles1.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42345eb36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642345eb3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642345eb36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642345eb3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642345eb36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642345eb36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785d2ba4ce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1" name="Google Shape;131;g3785d2ba4ce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13"/>
          <p:cNvSpPr txBox="1"/>
          <p:nvPr>
            <p:ph type="ctrTitle"/>
          </p:nvPr>
        </p:nvSpPr>
        <p:spPr>
          <a:xfrm>
            <a:off x="1050877" y="1322386"/>
            <a:ext cx="10363200" cy="1470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3"/>
          <p:cNvSpPr txBox="1"/>
          <p:nvPr>
            <p:ph idx="1" type="subTitle"/>
          </p:nvPr>
        </p:nvSpPr>
        <p:spPr>
          <a:xfrm>
            <a:off x="2032000" y="3326641"/>
            <a:ext cx="85344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00"/>
              </a:spcBef>
              <a:spcAft>
                <a:spcPts val="0"/>
              </a:spcAft>
              <a:buClr>
                <a:srgbClr val="17365D"/>
              </a:buClr>
              <a:buSzPts val="2000"/>
              <a:buNone/>
              <a:defRPr b="1" sz="2000">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6" name="Google Shape;16;p13"/>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3"/>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4"/>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a:solidFill>
                  <a:schemeClr val="dk1"/>
                </a:solidFill>
              </a:defRPr>
            </a:lvl1pPr>
            <a:lvl2pPr indent="-355600" lvl="1" marL="914400" algn="l">
              <a:lnSpc>
                <a:spcPct val="100000"/>
              </a:lnSpc>
              <a:spcBef>
                <a:spcPts val="400"/>
              </a:spcBef>
              <a:spcAft>
                <a:spcPts val="0"/>
              </a:spcAft>
              <a:buClr>
                <a:schemeClr val="dk1"/>
              </a:buClr>
              <a:buSzPts val="2000"/>
              <a:buChar char="–"/>
              <a:defRPr>
                <a:solidFill>
                  <a:schemeClr val="dk1"/>
                </a:solidFill>
              </a:defRPr>
            </a:lvl2pPr>
            <a:lvl3pPr indent="-342900" lvl="2" marL="1371600" algn="l">
              <a:lnSpc>
                <a:spcPct val="100000"/>
              </a:lnSpc>
              <a:spcBef>
                <a:spcPts val="360"/>
              </a:spcBef>
              <a:spcAft>
                <a:spcPts val="0"/>
              </a:spcAft>
              <a:buClr>
                <a:schemeClr val="dk1"/>
              </a:buClr>
              <a:buSzPts val="1800"/>
              <a:buChar char="•"/>
              <a:defRPr>
                <a:solidFill>
                  <a:schemeClr val="dk1"/>
                </a:solidFill>
              </a:defRPr>
            </a:lvl3pPr>
            <a:lvl4pPr indent="-330200" lvl="3" marL="1828800" algn="l">
              <a:lnSpc>
                <a:spcPct val="100000"/>
              </a:lnSpc>
              <a:spcBef>
                <a:spcPts val="320"/>
              </a:spcBef>
              <a:spcAft>
                <a:spcPts val="0"/>
              </a:spcAft>
              <a:buClr>
                <a:schemeClr val="dk1"/>
              </a:buClr>
              <a:buSzPts val="1600"/>
              <a:buChar char="–"/>
              <a:defRPr>
                <a:solidFill>
                  <a:schemeClr val="dk1"/>
                </a:solidFill>
              </a:defRPr>
            </a:lvl4pPr>
            <a:lvl5pPr indent="-330200" lvl="4" marL="2286000" algn="l">
              <a:lnSpc>
                <a:spcPct val="100000"/>
              </a:lnSpc>
              <a:spcBef>
                <a:spcPts val="320"/>
              </a:spcBef>
              <a:spcAft>
                <a:spcPts val="0"/>
              </a:spcAft>
              <a:buClr>
                <a:schemeClr val="dk1"/>
              </a:buClr>
              <a:buSzPts val="1600"/>
              <a:buChar char="»"/>
              <a:defRPr>
                <a:solidFill>
                  <a:schemeClr val="dk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14"/>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4"/>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15"/>
          <p:cNvSpPr txBox="1"/>
          <p:nvPr>
            <p:ph type="title"/>
          </p:nvPr>
        </p:nvSpPr>
        <p:spPr>
          <a:xfrm>
            <a:off x="963084" y="4406903"/>
            <a:ext cx="10363200" cy="13620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0000"/>
              </a:buClr>
              <a:buSzPts val="4000"/>
              <a:buFont typeface="Verdana"/>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5"/>
          <p:cNvSpPr txBox="1"/>
          <p:nvPr>
            <p:ph idx="1" type="body"/>
          </p:nvPr>
        </p:nvSpPr>
        <p:spPr>
          <a:xfrm>
            <a:off x="963084" y="2906713"/>
            <a:ext cx="103632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 name="Google Shape;28;p15"/>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5"/>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1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6"/>
          <p:cNvSpPr txBox="1"/>
          <p:nvPr>
            <p:ph idx="1" type="body"/>
          </p:nvPr>
        </p:nvSpPr>
        <p:spPr>
          <a:xfrm>
            <a:off x="609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16"/>
          <p:cNvSpPr txBox="1"/>
          <p:nvPr>
            <p:ph idx="2" type="body"/>
          </p:nvPr>
        </p:nvSpPr>
        <p:spPr>
          <a:xfrm>
            <a:off x="6197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5" name="Google Shape;35;p16"/>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6"/>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6"/>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17"/>
          <p:cNvSpPr txBox="1"/>
          <p:nvPr>
            <p:ph type="title"/>
          </p:nvPr>
        </p:nvSpPr>
        <p:spPr>
          <a:xfrm>
            <a:off x="859368" y="304800"/>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7"/>
          <p:cNvSpPr txBox="1"/>
          <p:nvPr>
            <p:ph idx="1" type="body"/>
          </p:nvPr>
        </p:nvSpPr>
        <p:spPr>
          <a:xfrm>
            <a:off x="609600" y="1535113"/>
            <a:ext cx="53868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17"/>
          <p:cNvSpPr txBox="1"/>
          <p:nvPr>
            <p:ph idx="2" type="body"/>
          </p:nvPr>
        </p:nvSpPr>
        <p:spPr>
          <a:xfrm>
            <a:off x="609600" y="2174875"/>
            <a:ext cx="53868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17"/>
          <p:cNvSpPr txBox="1"/>
          <p:nvPr>
            <p:ph idx="3" type="body"/>
          </p:nvPr>
        </p:nvSpPr>
        <p:spPr>
          <a:xfrm>
            <a:off x="6193369" y="1535113"/>
            <a:ext cx="5388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7"/>
          <p:cNvSpPr txBox="1"/>
          <p:nvPr>
            <p:ph idx="4" type="body"/>
          </p:nvPr>
        </p:nvSpPr>
        <p:spPr>
          <a:xfrm>
            <a:off x="6193369" y="2174875"/>
            <a:ext cx="5388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7"/>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7"/>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7"/>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18"/>
          <p:cNvSpPr txBox="1"/>
          <p:nvPr>
            <p:ph type="title"/>
          </p:nvPr>
        </p:nvSpPr>
        <p:spPr>
          <a:xfrm>
            <a:off x="3860800" y="274638"/>
            <a:ext cx="77217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8"/>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8"/>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pic>
        <p:nvPicPr>
          <p:cNvPr descr="C:\Users\AMMU\Desktop\Border.png" id="52" name="Google Shape;52;p18"/>
          <p:cNvPicPr preferRelativeResize="0"/>
          <p:nvPr/>
        </p:nvPicPr>
        <p:blipFill rotWithShape="1">
          <a:blip r:embed="rId2">
            <a:alphaModFix/>
          </a:blip>
          <a:srcRect b="0" l="0" r="0" t="0"/>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9"/>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9"/>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20"/>
          <p:cNvSpPr txBox="1"/>
          <p:nvPr>
            <p:ph type="title"/>
          </p:nvPr>
        </p:nvSpPr>
        <p:spPr>
          <a:xfrm>
            <a:off x="609602" y="273050"/>
            <a:ext cx="4011000" cy="1162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0"/>
          <p:cNvSpPr txBox="1"/>
          <p:nvPr>
            <p:ph idx="1" type="body"/>
          </p:nvPr>
        </p:nvSpPr>
        <p:spPr>
          <a:xfrm>
            <a:off x="4766733" y="273053"/>
            <a:ext cx="6815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0" name="Google Shape;60;p20"/>
          <p:cNvSpPr txBox="1"/>
          <p:nvPr>
            <p:ph idx="2" type="body"/>
          </p:nvPr>
        </p:nvSpPr>
        <p:spPr>
          <a:xfrm>
            <a:off x="609602" y="1435103"/>
            <a:ext cx="40110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1" name="Google Shape;61;p20"/>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0"/>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21"/>
          <p:cNvSpPr txBox="1"/>
          <p:nvPr>
            <p:ph type="title"/>
          </p:nvPr>
        </p:nvSpPr>
        <p:spPr>
          <a:xfrm>
            <a:off x="2389717" y="4800600"/>
            <a:ext cx="7315200" cy="566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1"/>
          <p:cNvSpPr/>
          <p:nvPr>
            <p:ph idx="2" type="pic"/>
          </p:nvPr>
        </p:nvSpPr>
        <p:spPr>
          <a:xfrm>
            <a:off x="2389717" y="612775"/>
            <a:ext cx="7315200" cy="4114800"/>
          </a:xfrm>
          <a:prstGeom prst="rect">
            <a:avLst/>
          </a:prstGeom>
          <a:noFill/>
          <a:ln>
            <a:noFill/>
          </a:ln>
        </p:spPr>
      </p:sp>
      <p:sp>
        <p:nvSpPr>
          <p:cNvPr id="67" name="Google Shape;67;p21"/>
          <p:cNvSpPr txBox="1"/>
          <p:nvPr>
            <p:ph idx="1" type="body"/>
          </p:nvPr>
        </p:nvSpPr>
        <p:spPr>
          <a:xfrm>
            <a:off x="2389717" y="5367338"/>
            <a:ext cx="73152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2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2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2"/>
          <p:cNvSpPr txBox="1"/>
          <p:nvPr>
            <p:ph idx="1" type="body"/>
          </p:nvPr>
        </p:nvSpPr>
        <p:spPr>
          <a:xfrm rot="5400000">
            <a:off x="3670300" y="-1714499"/>
            <a:ext cx="4953000" cy="10668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 name="Google Shape;74;p2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23"/>
          <p:cNvSpPr txBox="1"/>
          <p:nvPr>
            <p:ph type="title"/>
          </p:nvPr>
        </p:nvSpPr>
        <p:spPr>
          <a:xfrm rot="5400000">
            <a:off x="7285050" y="1828791"/>
            <a:ext cx="5851500" cy="2743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3"/>
          <p:cNvSpPr txBox="1"/>
          <p:nvPr>
            <p:ph idx="1" type="body"/>
          </p:nvPr>
        </p:nvSpPr>
        <p:spPr>
          <a:xfrm rot="5400000">
            <a:off x="1697000" y="-812859"/>
            <a:ext cx="5851500" cy="8026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23"/>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3"/>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3"/>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FF0000"/>
              </a:buClr>
              <a:buSzPts val="2800"/>
              <a:buFont typeface="Verdana"/>
              <a:buNone/>
              <a:defRPr b="1" i="0" sz="2800" u="none" cap="none" strike="noStrike">
                <a:solidFill>
                  <a:srgbClr val="FF0000"/>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2"/>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9pPr>
          </a:lstStyle>
          <a:p/>
        </p:txBody>
      </p:sp>
      <p:sp>
        <p:nvSpPr>
          <p:cNvPr id="8" name="Google Shape;8;p1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9" name="Google Shape;9;p1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10" name="Google Shape;10;p1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cxnSp>
        <p:nvCxnSpPr>
          <p:cNvPr id="11" name="Google Shape;11;p12"/>
          <p:cNvCxnSpPr/>
          <p:nvPr/>
        </p:nvCxnSpPr>
        <p:spPr>
          <a:xfrm>
            <a:off x="812800" y="914400"/>
            <a:ext cx="10668000" cy="0"/>
          </a:xfrm>
          <a:prstGeom prst="straightConnector1">
            <a:avLst/>
          </a:prstGeom>
          <a:noFill/>
          <a:ln cap="flat" cmpd="thickThin" w="57150">
            <a:solidFill>
              <a:schemeClr val="dk1"/>
            </a:solidFill>
            <a:prstDash val="solid"/>
            <a:round/>
            <a:headEnd len="sm" w="sm" type="none"/>
            <a:tailEnd len="sm" w="sm" type="none"/>
          </a:ln>
        </p:spPr>
      </p:cxnSp>
      <p:pic>
        <p:nvPicPr>
          <p:cNvPr id="12" name="Google Shape;12;p12"/>
          <p:cNvPicPr preferRelativeResize="0"/>
          <p:nvPr/>
        </p:nvPicPr>
        <p:blipFill rotWithShape="1">
          <a:blip r:embed="rId1">
            <a:alphaModFix/>
          </a:blip>
          <a:srcRect b="18045" l="0" r="0" t="0"/>
          <a:stretch/>
        </p:blipFill>
        <p:spPr>
          <a:xfrm>
            <a:off x="0" y="5991366"/>
            <a:ext cx="12192001" cy="86663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
          <p:cNvSpPr txBox="1"/>
          <p:nvPr>
            <p:ph type="ctrTitle"/>
          </p:nvPr>
        </p:nvSpPr>
        <p:spPr>
          <a:xfrm>
            <a:off x="790469" y="1069102"/>
            <a:ext cx="10363200" cy="96289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17365D"/>
              </a:buClr>
              <a:buSzPts val="2800"/>
              <a:buFont typeface="Verdana"/>
              <a:buNone/>
            </a:pPr>
            <a:r>
              <a:rPr lang="en-US" sz="2400">
                <a:solidFill>
                  <a:schemeClr val="dk1"/>
                </a:solidFill>
                <a:latin typeface="Cambria"/>
                <a:ea typeface="Cambria"/>
                <a:cs typeface="Cambria"/>
                <a:sym typeface="Cambria"/>
              </a:rPr>
              <a:t>Digital Twin for Smart Factory Energy Optimization</a:t>
            </a:r>
            <a:endParaRPr sz="2400">
              <a:solidFill>
                <a:schemeClr val="dk1"/>
              </a:solidFill>
              <a:latin typeface="Cambria"/>
              <a:ea typeface="Cambria"/>
              <a:cs typeface="Cambria"/>
              <a:sym typeface="Cambria"/>
            </a:endParaRPr>
          </a:p>
        </p:txBody>
      </p:sp>
      <p:sp>
        <p:nvSpPr>
          <p:cNvPr id="88" name="Google Shape;88;p1"/>
          <p:cNvSpPr txBox="1"/>
          <p:nvPr>
            <p:ph idx="1" type="subTitle"/>
          </p:nvPr>
        </p:nvSpPr>
        <p:spPr>
          <a:xfrm>
            <a:off x="790468" y="2045352"/>
            <a:ext cx="4391131" cy="55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17365D"/>
              </a:buClr>
              <a:buSzPts val="2000"/>
              <a:buNone/>
            </a:pPr>
            <a:r>
              <a:rPr lang="en-US" sz="1800">
                <a:latin typeface="Cambria"/>
                <a:ea typeface="Cambria"/>
                <a:cs typeface="Cambria"/>
                <a:sym typeface="Cambria"/>
              </a:rPr>
              <a:t>Batch Number: Samsung_14 </a:t>
            </a:r>
            <a:endParaRPr sz="1800">
              <a:latin typeface="Cambria"/>
              <a:ea typeface="Cambria"/>
              <a:cs typeface="Cambria"/>
              <a:sym typeface="Cambria"/>
            </a:endParaRPr>
          </a:p>
        </p:txBody>
      </p:sp>
      <p:sp>
        <p:nvSpPr>
          <p:cNvPr id="89" name="Google Shape;89;p1"/>
          <p:cNvSpPr txBox="1"/>
          <p:nvPr/>
        </p:nvSpPr>
        <p:spPr>
          <a:xfrm>
            <a:off x="6480195" y="2513340"/>
            <a:ext cx="5514300" cy="2020560"/>
          </a:xfrm>
          <a:prstGeom prst="rect">
            <a:avLst/>
          </a:prstGeom>
          <a:noFill/>
          <a:ln>
            <a:noFill/>
          </a:ln>
        </p:spPr>
        <p:txBody>
          <a:bodyPr anchorCtr="0" anchor="t" bIns="45700" lIns="91425" spcFirstLastPara="1" rIns="91425" wrap="square" tIns="45700">
            <a:normAutofit lnSpcReduction="20000"/>
          </a:bodyPr>
          <a:lstStyle/>
          <a:p>
            <a:pPr indent="0" lvl="0" marL="0" marR="0" rtl="0" algn="ctr">
              <a:lnSpc>
                <a:spcPct val="100000"/>
              </a:lnSpc>
              <a:spcBef>
                <a:spcPts val="0"/>
              </a:spcBef>
              <a:spcAft>
                <a:spcPts val="0"/>
              </a:spcAft>
              <a:buClr>
                <a:srgbClr val="17365D"/>
              </a:buClr>
              <a:buSzPts val="2000"/>
              <a:buFont typeface="Arial"/>
              <a:buNone/>
            </a:pPr>
            <a:r>
              <a:rPr b="1" i="0" lang="en-US" sz="1800" u="none" cap="none" strike="noStrike">
                <a:solidFill>
                  <a:srgbClr val="17365D"/>
                </a:solidFill>
                <a:latin typeface="Cambria"/>
                <a:ea typeface="Cambria"/>
                <a:cs typeface="Cambria"/>
                <a:sym typeface="Cambria"/>
              </a:rPr>
              <a:t>Under the Supervision of,</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Dr. Robin Rohit Vincent</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Professor </a:t>
            </a:r>
            <a:endParaRPr b="1" sz="1700">
              <a:solidFill>
                <a:srgbClr val="17365D"/>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School of Computer Science and Engineering</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Presidency University</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p:txBody>
      </p:sp>
      <p:graphicFrame>
        <p:nvGraphicFramePr>
          <p:cNvPr id="90" name="Google Shape;90;p1"/>
          <p:cNvGraphicFramePr/>
          <p:nvPr/>
        </p:nvGraphicFramePr>
        <p:xfrm>
          <a:off x="553347" y="2721840"/>
          <a:ext cx="3000000" cy="3000000"/>
        </p:xfrm>
        <a:graphic>
          <a:graphicData uri="http://schemas.openxmlformats.org/drawingml/2006/table">
            <a:tbl>
              <a:tblPr bandRow="1" firstRow="1">
                <a:noFill/>
                <a:tableStyleId>{3CB5EFA4-8007-4247-9860-5F5E53857E9E}</a:tableStyleId>
              </a:tblPr>
              <a:tblGrid>
                <a:gridCol w="2085000"/>
                <a:gridCol w="3333675"/>
              </a:tblGrid>
              <a:tr h="306250">
                <a:tc>
                  <a:txBody>
                    <a:bodyPr/>
                    <a:lstStyle/>
                    <a:p>
                      <a:pPr indent="0" lvl="1"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Roll Number</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Student Name</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rPr lang="en-US" sz="1800"/>
                        <a:t>20221CSE0007</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 Chandana M Rao</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rPr lang="en-US" sz="1800"/>
                        <a:t>20221CSE0314</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Chirag BA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rPr lang="en-US" sz="1800"/>
                        <a:t>20221CCS0130</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a:t>Chaithra S</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1" name="Google Shape;91;p1"/>
          <p:cNvSpPr txBox="1"/>
          <p:nvPr/>
        </p:nvSpPr>
        <p:spPr>
          <a:xfrm>
            <a:off x="2832225" y="136441"/>
            <a:ext cx="5498973" cy="7293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7365D"/>
              </a:buClr>
              <a:buSzPts val="1800"/>
              <a:buFont typeface="Arial"/>
              <a:buNone/>
            </a:pPr>
            <a:r>
              <a:rPr b="1" i="0" lang="en-US" sz="1800" u="none" cap="none" strike="noStrike">
                <a:solidFill>
                  <a:srgbClr val="17365D"/>
                </a:solidFill>
                <a:latin typeface="Cambria"/>
                <a:ea typeface="Cambria"/>
                <a:cs typeface="Cambria"/>
                <a:sym typeface="Cambria"/>
              </a:rPr>
              <a:t>CSE7101- Capstone Project</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310"/>
              </a:spcBef>
              <a:spcAft>
                <a:spcPts val="0"/>
              </a:spcAft>
              <a:buClr>
                <a:srgbClr val="17365D"/>
              </a:buClr>
              <a:buSzPts val="1800"/>
              <a:buFont typeface="Arial"/>
              <a:buNone/>
            </a:pPr>
            <a:r>
              <a:rPr b="1" i="0" lang="en-US" sz="1800" u="none" cap="none" strike="noStrike">
                <a:solidFill>
                  <a:srgbClr val="17365D"/>
                </a:solidFill>
                <a:latin typeface="Cambria"/>
                <a:ea typeface="Cambria"/>
                <a:cs typeface="Cambria"/>
                <a:sym typeface="Cambria"/>
              </a:rPr>
              <a:t>Review-1</a:t>
            </a:r>
            <a:endParaRPr b="1" i="0" sz="1800" u="none" cap="none" strike="noStrike">
              <a:solidFill>
                <a:srgbClr val="17365D"/>
              </a:solidFill>
              <a:latin typeface="Cambria"/>
              <a:ea typeface="Cambria"/>
              <a:cs typeface="Cambria"/>
              <a:sym typeface="Cambria"/>
            </a:endParaRPr>
          </a:p>
        </p:txBody>
      </p:sp>
      <p:sp>
        <p:nvSpPr>
          <p:cNvPr id="92" name="Google Shape;92;p1"/>
          <p:cNvSpPr txBox="1"/>
          <p:nvPr/>
        </p:nvSpPr>
        <p:spPr>
          <a:xfrm>
            <a:off x="0" y="4533900"/>
            <a:ext cx="12249915" cy="15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Program: Samsung</a:t>
            </a:r>
            <a:endParaRPr/>
          </a:p>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HoD: </a:t>
            </a:r>
            <a:r>
              <a:rPr b="1" lang="en-US" sz="1700">
                <a:solidFill>
                  <a:schemeClr val="dk2"/>
                </a:solidFill>
                <a:latin typeface="Cambria"/>
                <a:ea typeface="Cambria"/>
                <a:cs typeface="Cambria"/>
                <a:sym typeface="Cambria"/>
              </a:rPr>
              <a:t>Dr. Robin Rohit Vincent</a:t>
            </a:r>
            <a:endParaRPr b="1" sz="1800">
              <a:solidFill>
                <a:schemeClr val="dk2"/>
              </a:solidFill>
              <a:latin typeface="Cambria"/>
              <a:ea typeface="Cambria"/>
              <a:cs typeface="Cambria"/>
              <a:sym typeface="Cambria"/>
            </a:endParaRPr>
          </a:p>
          <a:p>
            <a:pPr indent="0" lvl="0" marL="0" marR="0" rtl="0" algn="l">
              <a:lnSpc>
                <a:spcPct val="100000"/>
              </a:lnSpc>
              <a:spcBef>
                <a:spcPts val="0"/>
              </a:spcBef>
              <a:spcAft>
                <a:spcPts val="0"/>
              </a:spcAft>
              <a:buNone/>
            </a:pPr>
            <a:r>
              <a:rPr b="1" i="0" lang="en-US" sz="1800" u="none" cap="none" strike="noStrike">
                <a:solidFill>
                  <a:schemeClr val="accent1"/>
                </a:solidFill>
                <a:latin typeface="Cambria"/>
                <a:ea typeface="Cambria"/>
                <a:cs typeface="Cambria"/>
                <a:sym typeface="Cambria"/>
              </a:rPr>
              <a:t>Name of the Program Project Coordinator: Dr.Nagaraja S R</a:t>
            </a:r>
            <a:endParaRPr/>
          </a:p>
          <a:p>
            <a:pPr indent="0" lvl="0" marL="0" marR="0" rtl="0" algn="l">
              <a:lnSpc>
                <a:spcPct val="100000"/>
              </a:lnSpc>
              <a:spcBef>
                <a:spcPts val="0"/>
              </a:spcBef>
              <a:spcAft>
                <a:spcPts val="0"/>
              </a:spcAft>
              <a:buNone/>
            </a:pPr>
            <a:r>
              <a:rPr b="1" i="0" lang="en-US" sz="1800" u="none" cap="none" strike="noStrike">
                <a:solidFill>
                  <a:schemeClr val="accent1"/>
                </a:solidFill>
                <a:latin typeface="Cambria"/>
                <a:ea typeface="Cambria"/>
                <a:cs typeface="Cambria"/>
                <a:sym typeface="Cambria"/>
              </a:rPr>
              <a:t>Name of the School Project Coordinators: </a:t>
            </a:r>
            <a:r>
              <a:rPr b="1" i="0" lang="en-US" sz="1800" u="none" cap="none" strike="noStrike">
                <a:solidFill>
                  <a:schemeClr val="dk1"/>
                </a:solidFill>
                <a:latin typeface="Cambria"/>
                <a:ea typeface="Cambria"/>
                <a:cs typeface="Cambria"/>
                <a:sym typeface="Cambria"/>
              </a:rPr>
              <a:t>Dr. Sampath A K , Dr. Geetha A </a:t>
            </a:r>
            <a:endParaRPr b="1" i="0" sz="1800" u="none" cap="none" strike="noStrike">
              <a:solidFill>
                <a:schemeClr val="dk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Content</a:t>
            </a:r>
            <a:endParaRPr>
              <a:latin typeface="Cambria"/>
              <a:ea typeface="Cambria"/>
              <a:cs typeface="Cambria"/>
              <a:sym typeface="Cambria"/>
            </a:endParaRPr>
          </a:p>
        </p:txBody>
      </p:sp>
      <p:sp>
        <p:nvSpPr>
          <p:cNvPr id="98" name="Google Shape;98;p3"/>
          <p:cNvSpPr txBox="1"/>
          <p:nvPr>
            <p:ph idx="1" type="body"/>
          </p:nvPr>
        </p:nvSpPr>
        <p:spPr>
          <a:xfrm>
            <a:off x="655782" y="1466273"/>
            <a:ext cx="10668000" cy="3924299"/>
          </a:xfrm>
          <a:prstGeom prst="rect">
            <a:avLst/>
          </a:prstGeom>
          <a:noFill/>
          <a:ln>
            <a:noFill/>
          </a:ln>
        </p:spPr>
        <p:txBody>
          <a:bodyPr anchorCtr="0" anchor="t" bIns="45700" lIns="91425" spcFirstLastPara="1" rIns="91425" wrap="square" tIns="45700">
            <a:normAutofit fontScale="70000" lnSpcReduction="20000"/>
          </a:bodyPr>
          <a:lstStyle/>
          <a:p>
            <a:pPr indent="-342900" lvl="0" marL="495300" rtl="0" algn="just">
              <a:lnSpc>
                <a:spcPct val="200000"/>
              </a:lnSpc>
              <a:spcBef>
                <a:spcPts val="0"/>
              </a:spcBef>
              <a:spcAft>
                <a:spcPts val="0"/>
              </a:spcAft>
              <a:buSzPct val="142857"/>
              <a:buFont typeface="Arial"/>
              <a:buChar char="•"/>
            </a:pPr>
            <a:r>
              <a:rPr lang="en-US">
                <a:latin typeface="Cambria"/>
                <a:ea typeface="Cambria"/>
                <a:cs typeface="Cambria"/>
                <a:sym typeface="Cambria"/>
              </a:rPr>
              <a:t>Problem Statement</a:t>
            </a:r>
            <a:endParaRPr/>
          </a:p>
          <a:p>
            <a:pPr indent="-342900" lvl="0" marL="495300" rtl="0" algn="just">
              <a:lnSpc>
                <a:spcPct val="200000"/>
              </a:lnSpc>
              <a:spcBef>
                <a:spcPts val="0"/>
              </a:spcBef>
              <a:spcAft>
                <a:spcPts val="0"/>
              </a:spcAft>
              <a:buSzPct val="142857"/>
              <a:buFont typeface="Arial"/>
              <a:buChar char="•"/>
            </a:pPr>
            <a:r>
              <a:rPr lang="en-US">
                <a:latin typeface="Cambria"/>
                <a:ea typeface="Cambria"/>
                <a:cs typeface="Cambria"/>
                <a:sym typeface="Cambria"/>
              </a:rPr>
              <a:t>Objectives</a:t>
            </a:r>
            <a:endParaRPr>
              <a:latin typeface="Cambria"/>
              <a:ea typeface="Cambria"/>
              <a:cs typeface="Cambria"/>
              <a:sym typeface="Cambria"/>
            </a:endParaRPr>
          </a:p>
          <a:p>
            <a:pPr indent="-342900" lvl="0" marL="495300" rtl="0" algn="just">
              <a:lnSpc>
                <a:spcPct val="200000"/>
              </a:lnSpc>
              <a:spcBef>
                <a:spcPts val="0"/>
              </a:spcBef>
              <a:spcAft>
                <a:spcPts val="0"/>
              </a:spcAft>
              <a:buSzPct val="142857"/>
              <a:buFont typeface="Arial"/>
              <a:buChar char="•"/>
            </a:pPr>
            <a:r>
              <a:rPr lang="en-US">
                <a:latin typeface="Cambria"/>
                <a:ea typeface="Cambria"/>
                <a:cs typeface="Cambria"/>
                <a:sym typeface="Cambria"/>
              </a:rPr>
              <a:t>Background and Related work for title Selection</a:t>
            </a:r>
            <a:endParaRPr/>
          </a:p>
          <a:p>
            <a:pPr indent="-342900" lvl="0" marL="495300" rtl="0" algn="just">
              <a:lnSpc>
                <a:spcPct val="200000"/>
              </a:lnSpc>
              <a:spcBef>
                <a:spcPts val="0"/>
              </a:spcBef>
              <a:spcAft>
                <a:spcPts val="0"/>
              </a:spcAft>
              <a:buSzPct val="142857"/>
              <a:buFont typeface="Arial"/>
              <a:buChar char="•"/>
            </a:pPr>
            <a:r>
              <a:rPr lang="en-US">
                <a:latin typeface="Cambria"/>
                <a:ea typeface="Cambria"/>
                <a:cs typeface="Cambria"/>
                <a:sym typeface="Cambria"/>
              </a:rPr>
              <a:t>Analysis of Problem Statement</a:t>
            </a:r>
            <a:endParaRPr/>
          </a:p>
          <a:p>
            <a:pPr indent="-342900" lvl="0" marL="495300" rtl="0" algn="just">
              <a:lnSpc>
                <a:spcPct val="200000"/>
              </a:lnSpc>
              <a:spcBef>
                <a:spcPts val="0"/>
              </a:spcBef>
              <a:spcAft>
                <a:spcPts val="0"/>
              </a:spcAft>
              <a:buSzPct val="107142"/>
              <a:buFont typeface="Arial"/>
              <a:buChar char="•"/>
            </a:pPr>
            <a:r>
              <a:rPr lang="en-US">
                <a:latin typeface="Cambria"/>
                <a:ea typeface="Cambria"/>
                <a:cs typeface="Cambria"/>
                <a:sym typeface="Cambria"/>
              </a:rPr>
              <a:t>Innovation or Novel Contributions</a:t>
            </a:r>
            <a:endParaRPr sz="3200">
              <a:latin typeface="Cambria"/>
              <a:ea typeface="Cambria"/>
              <a:cs typeface="Cambria"/>
              <a:sym typeface="Cambria"/>
            </a:endParaRPr>
          </a:p>
          <a:p>
            <a:pPr indent="-342900" lvl="0" marL="495300" rtl="0" algn="just">
              <a:lnSpc>
                <a:spcPct val="200000"/>
              </a:lnSpc>
              <a:spcBef>
                <a:spcPts val="0"/>
              </a:spcBef>
              <a:spcAft>
                <a:spcPts val="0"/>
              </a:spcAft>
              <a:buSzPct val="142857"/>
              <a:buFont typeface="Arial"/>
              <a:buChar char="•"/>
            </a:pPr>
            <a:r>
              <a:rPr lang="en-US">
                <a:latin typeface="Cambria"/>
                <a:ea typeface="Cambria"/>
                <a:cs typeface="Cambria"/>
                <a:sym typeface="Cambria"/>
              </a:rPr>
              <a:t>Git-hub Link</a:t>
            </a:r>
            <a:endParaRPr>
              <a:latin typeface="Cambria"/>
              <a:ea typeface="Cambria"/>
              <a:cs typeface="Cambria"/>
              <a:sym typeface="Cambria"/>
            </a:endParaRPr>
          </a:p>
          <a:p>
            <a:pPr indent="-342900" lvl="0" marL="495300" rtl="0" algn="just">
              <a:lnSpc>
                <a:spcPct val="200000"/>
              </a:lnSpc>
              <a:spcBef>
                <a:spcPts val="0"/>
              </a:spcBef>
              <a:spcAft>
                <a:spcPts val="0"/>
              </a:spcAft>
              <a:buClr>
                <a:schemeClr val="dk1"/>
              </a:buClr>
              <a:buSzPct val="142857"/>
              <a:buFont typeface="Arial"/>
              <a:buChar char="•"/>
            </a:pPr>
            <a:r>
              <a:rPr lang="en-US">
                <a:latin typeface="Cambria"/>
                <a:ea typeface="Cambria"/>
                <a:cs typeface="Cambria"/>
                <a:sym typeface="Cambria"/>
              </a:rPr>
              <a:t>Timeline of the Project</a:t>
            </a:r>
            <a:endParaRPr/>
          </a:p>
          <a:p>
            <a:pPr indent="-342900" lvl="0" marL="495300" rtl="0" algn="just">
              <a:lnSpc>
                <a:spcPct val="200000"/>
              </a:lnSpc>
              <a:spcBef>
                <a:spcPts val="0"/>
              </a:spcBef>
              <a:spcAft>
                <a:spcPts val="0"/>
              </a:spcAft>
              <a:buClr>
                <a:schemeClr val="dk1"/>
              </a:buClr>
              <a:buSzPct val="142857"/>
              <a:buFont typeface="Arial"/>
              <a:buChar char="•"/>
            </a:pPr>
            <a:r>
              <a:rPr lang="en-US">
                <a:latin typeface="Cambria"/>
                <a:ea typeface="Cambria"/>
                <a:cs typeface="Cambria"/>
                <a:sym typeface="Cambria"/>
              </a:rPr>
              <a:t>References</a:t>
            </a:r>
            <a:endParaRPr/>
          </a:p>
          <a:p>
            <a:pPr indent="-190500" lvl="0" marL="495300" rtl="0" algn="just">
              <a:lnSpc>
                <a:spcPct val="200000"/>
              </a:lnSpc>
              <a:spcBef>
                <a:spcPts val="0"/>
              </a:spcBef>
              <a:spcAft>
                <a:spcPts val="0"/>
              </a:spcAft>
              <a:buClr>
                <a:schemeClr val="dk1"/>
              </a:buClr>
              <a:buSzPct val="142857"/>
              <a:buFont typeface="Noto Sans Symbols"/>
              <a:buNone/>
            </a:pPr>
            <a:r>
              <a:t/>
            </a:r>
            <a:endParaRPr>
              <a:latin typeface="Cambria"/>
              <a:ea typeface="Cambria"/>
              <a:cs typeface="Cambria"/>
              <a:sym typeface="Cambria"/>
            </a:endParaRPr>
          </a:p>
          <a:p>
            <a:pPr indent="-190500" lvl="0" marL="495300" rtl="0" algn="just">
              <a:lnSpc>
                <a:spcPct val="200000"/>
              </a:lnSpc>
              <a:spcBef>
                <a:spcPts val="0"/>
              </a:spcBef>
              <a:spcAft>
                <a:spcPts val="0"/>
              </a:spcAft>
              <a:buClr>
                <a:schemeClr val="dk1"/>
              </a:buClr>
              <a:buSzPct val="142857"/>
              <a:buFont typeface="Noto Sans Symbols"/>
              <a:buNone/>
            </a:pPr>
            <a:r>
              <a:t/>
            </a:r>
            <a:endParaRPr>
              <a:latin typeface="Cambria"/>
              <a:ea typeface="Cambria"/>
              <a:cs typeface="Cambria"/>
              <a:sym typeface="Cambria"/>
            </a:endParaRPr>
          </a:p>
          <a:p>
            <a:pPr indent="-190500" lvl="0" marL="495300" rtl="0" algn="just">
              <a:lnSpc>
                <a:spcPct val="200000"/>
              </a:lnSpc>
              <a:spcBef>
                <a:spcPts val="0"/>
              </a:spcBef>
              <a:spcAft>
                <a:spcPts val="0"/>
              </a:spcAft>
              <a:buClr>
                <a:schemeClr val="dk1"/>
              </a:buClr>
              <a:buSzPct val="142857"/>
              <a:buFont typeface="Noto Sans Symbols"/>
              <a:buNone/>
            </a:pPr>
            <a:r>
              <a:t/>
            </a:r>
            <a:endParaRPr>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Problem Statement Number: Samsung_14</a:t>
            </a:r>
            <a:endParaRPr>
              <a:latin typeface="Cambria"/>
              <a:ea typeface="Cambria"/>
              <a:cs typeface="Cambria"/>
              <a:sym typeface="Cambria"/>
            </a:endParaRPr>
          </a:p>
        </p:txBody>
      </p:sp>
      <p:sp>
        <p:nvSpPr>
          <p:cNvPr id="104" name="Google Shape;104;p2"/>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lnSpcReduction="10000"/>
          </a:bodyPr>
          <a:lstStyle/>
          <a:p>
            <a:pPr indent="-190500" lvl="0" marL="342900" rtl="0" algn="just">
              <a:lnSpc>
                <a:spcPct val="100000"/>
              </a:lnSpc>
              <a:spcBef>
                <a:spcPts val="0"/>
              </a:spcBef>
              <a:spcAft>
                <a:spcPts val="0"/>
              </a:spcAft>
              <a:buSzPts val="2400"/>
              <a:buNone/>
            </a:pPr>
            <a:r>
              <a:rPr lang="en-US">
                <a:latin typeface="Cambria"/>
                <a:ea typeface="Cambria"/>
                <a:cs typeface="Cambria"/>
                <a:sym typeface="Cambria"/>
              </a:rPr>
              <a:t>Organization: </a:t>
            </a:r>
            <a:endParaRPr/>
          </a:p>
          <a:p>
            <a:pPr indent="-190500" lvl="0" marL="342900" rtl="0" algn="just">
              <a:lnSpc>
                <a:spcPct val="200000"/>
              </a:lnSpc>
              <a:spcBef>
                <a:spcPts val="0"/>
              </a:spcBef>
              <a:spcAft>
                <a:spcPts val="0"/>
              </a:spcAft>
              <a:buSzPts val="2400"/>
              <a:buNone/>
            </a:pPr>
            <a:r>
              <a:rPr lang="en-US">
                <a:latin typeface="Cambria"/>
                <a:ea typeface="Cambria"/>
                <a:cs typeface="Cambria"/>
                <a:sym typeface="Cambria"/>
              </a:rPr>
              <a:t>Category (Hardware / Software / Both) : Software</a:t>
            </a:r>
            <a:endParaRPr/>
          </a:p>
          <a:p>
            <a:pPr indent="-190500" lvl="0" marL="342900" rtl="0" algn="just">
              <a:lnSpc>
                <a:spcPct val="200000"/>
              </a:lnSpc>
              <a:spcBef>
                <a:spcPts val="0"/>
              </a:spcBef>
              <a:spcAft>
                <a:spcPts val="0"/>
              </a:spcAft>
              <a:buSzPts val="2400"/>
              <a:buNone/>
            </a:pPr>
            <a:r>
              <a:rPr lang="en-US">
                <a:latin typeface="Cambria"/>
                <a:ea typeface="Cambria"/>
                <a:cs typeface="Cambria"/>
                <a:sym typeface="Cambria"/>
              </a:rPr>
              <a:t>Problem Description:</a:t>
            </a:r>
            <a:endParaRPr>
              <a:latin typeface="Cambria"/>
              <a:ea typeface="Cambria"/>
              <a:cs typeface="Cambria"/>
              <a:sym typeface="Cambria"/>
            </a:endParaRPr>
          </a:p>
          <a:p>
            <a:pPr indent="0" lvl="0" marL="0" rtl="0" algn="l">
              <a:lnSpc>
                <a:spcPct val="115000"/>
              </a:lnSpc>
              <a:spcBef>
                <a:spcPts val="1200"/>
              </a:spcBef>
              <a:spcAft>
                <a:spcPts val="0"/>
              </a:spcAft>
              <a:buSzPts val="1100"/>
              <a:buNone/>
            </a:pPr>
            <a:r>
              <a:rPr lang="en-US">
                <a:latin typeface="Cambria"/>
                <a:ea typeface="Cambria"/>
                <a:cs typeface="Cambria"/>
                <a:sym typeface="Cambria"/>
              </a:rPr>
              <a:t>Digital Twin for Smart Factory Energy Optimization is a virtual replica of a factory that mirrors real-time operations using IoT sensors, machine data, and AI analytics to monitor and optimize energy usage. By simulating production processes, predicting energy demands, and testing optimization strategies before applying them to the physical factory, it helps reduce energy waste, lower costs, and improve sustainability without disrupting operations.</a:t>
            </a:r>
            <a:endParaRPr>
              <a:latin typeface="Cambria"/>
              <a:ea typeface="Cambria"/>
              <a:cs typeface="Cambria"/>
              <a:sym typeface="Cambria"/>
            </a:endParaRPr>
          </a:p>
          <a:p>
            <a:pPr indent="-190500" lvl="0" marL="342900" rtl="0" algn="just">
              <a:lnSpc>
                <a:spcPct val="200000"/>
              </a:lnSpc>
              <a:spcBef>
                <a:spcPts val="1200"/>
              </a:spcBef>
              <a:spcAft>
                <a:spcPts val="0"/>
              </a:spcAft>
              <a:buSzPts val="2400"/>
              <a:buNone/>
            </a:pPr>
            <a:r>
              <a:t/>
            </a:r>
            <a:endParaRPr>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3642345eb36_0_10"/>
          <p:cNvSpPr txBox="1"/>
          <p:nvPr>
            <p:ph type="title"/>
          </p:nvPr>
        </p:nvSpPr>
        <p:spPr>
          <a:xfrm>
            <a:off x="812800" y="274638"/>
            <a:ext cx="10668000" cy="4875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Objectives</a:t>
            </a:r>
            <a:endParaRPr/>
          </a:p>
        </p:txBody>
      </p:sp>
      <p:sp>
        <p:nvSpPr>
          <p:cNvPr id="110" name="Google Shape;110;g3642345eb36_0_10"/>
          <p:cNvSpPr txBox="1"/>
          <p:nvPr>
            <p:ph idx="1" type="body"/>
          </p:nvPr>
        </p:nvSpPr>
        <p:spPr>
          <a:xfrm>
            <a:off x="812800" y="1143001"/>
            <a:ext cx="10668000" cy="4953000"/>
          </a:xfrm>
          <a:prstGeom prst="rect">
            <a:avLst/>
          </a:prstGeom>
        </p:spPr>
        <p:txBody>
          <a:bodyPr anchorCtr="0" anchor="t" bIns="45700" lIns="91425" spcFirstLastPara="1" rIns="91425" wrap="square" tIns="45700">
            <a:normAutofit/>
          </a:bodyPr>
          <a:lstStyle/>
          <a:p>
            <a:pPr indent="-333375" lvl="0" marL="457200" rtl="0" algn="l">
              <a:lnSpc>
                <a:spcPct val="115000"/>
              </a:lnSpc>
              <a:spcBef>
                <a:spcPts val="1200"/>
              </a:spcBef>
              <a:spcAft>
                <a:spcPts val="0"/>
              </a:spcAft>
              <a:buSzPts val="1650"/>
              <a:buAutoNum type="arabicPeriod"/>
            </a:pPr>
            <a:r>
              <a:rPr lang="en-US" sz="1650">
                <a:latin typeface="Arial"/>
                <a:ea typeface="Arial"/>
                <a:cs typeface="Arial"/>
                <a:sym typeface="Arial"/>
              </a:rPr>
              <a:t>Develop a real-time Digital Twin model of a smart factory’s operations.</a:t>
            </a:r>
            <a:br>
              <a:rPr lang="en-US" sz="1650">
                <a:latin typeface="Arial"/>
                <a:ea typeface="Arial"/>
                <a:cs typeface="Arial"/>
                <a:sym typeface="Arial"/>
              </a:rPr>
            </a:br>
            <a:endParaRPr sz="1650">
              <a:latin typeface="Arial"/>
              <a:ea typeface="Arial"/>
              <a:cs typeface="Arial"/>
              <a:sym typeface="Arial"/>
            </a:endParaRPr>
          </a:p>
          <a:p>
            <a:pPr indent="-333375" lvl="0" marL="457200" rtl="0" algn="l">
              <a:lnSpc>
                <a:spcPct val="115000"/>
              </a:lnSpc>
              <a:spcBef>
                <a:spcPts val="0"/>
              </a:spcBef>
              <a:spcAft>
                <a:spcPts val="0"/>
              </a:spcAft>
              <a:buSzPts val="1650"/>
              <a:buAutoNum type="arabicPeriod"/>
            </a:pPr>
            <a:r>
              <a:rPr b="1" lang="en-US" sz="1650">
                <a:latin typeface="Arial"/>
                <a:ea typeface="Arial"/>
                <a:cs typeface="Arial"/>
                <a:sym typeface="Arial"/>
              </a:rPr>
              <a:t>Simulate IoT sensors and industrial protocols</a:t>
            </a:r>
            <a:r>
              <a:rPr lang="en-US" sz="1650">
                <a:latin typeface="Arial"/>
                <a:ea typeface="Arial"/>
                <a:cs typeface="Arial"/>
                <a:sym typeface="Arial"/>
              </a:rPr>
              <a:t> to generate and collect live energy usage data in a virtual environment.</a:t>
            </a:r>
            <a:br>
              <a:rPr lang="en-US" sz="1650">
                <a:latin typeface="Arial"/>
                <a:ea typeface="Arial"/>
                <a:cs typeface="Arial"/>
                <a:sym typeface="Arial"/>
              </a:rPr>
            </a:br>
            <a:endParaRPr sz="1650">
              <a:latin typeface="Arial"/>
              <a:ea typeface="Arial"/>
              <a:cs typeface="Arial"/>
              <a:sym typeface="Arial"/>
            </a:endParaRPr>
          </a:p>
          <a:p>
            <a:pPr indent="-333375" lvl="0" marL="457200" rtl="0" algn="l">
              <a:lnSpc>
                <a:spcPct val="115000"/>
              </a:lnSpc>
              <a:spcBef>
                <a:spcPts val="0"/>
              </a:spcBef>
              <a:spcAft>
                <a:spcPts val="0"/>
              </a:spcAft>
              <a:buSzPts val="1650"/>
              <a:buAutoNum type="arabicPeriod"/>
            </a:pPr>
            <a:r>
              <a:rPr lang="en-US" sz="1650">
                <a:latin typeface="Arial"/>
                <a:ea typeface="Arial"/>
                <a:cs typeface="Arial"/>
                <a:sym typeface="Arial"/>
              </a:rPr>
              <a:t>Implement machine learning algorithms for energy demand forecasting.</a:t>
            </a:r>
            <a:br>
              <a:rPr lang="en-US" sz="1650">
                <a:latin typeface="Arial"/>
                <a:ea typeface="Arial"/>
                <a:cs typeface="Arial"/>
                <a:sym typeface="Arial"/>
              </a:rPr>
            </a:br>
            <a:endParaRPr sz="1650">
              <a:latin typeface="Arial"/>
              <a:ea typeface="Arial"/>
              <a:cs typeface="Arial"/>
              <a:sym typeface="Arial"/>
            </a:endParaRPr>
          </a:p>
          <a:p>
            <a:pPr indent="-333375" lvl="0" marL="457200" rtl="0" algn="l">
              <a:lnSpc>
                <a:spcPct val="115000"/>
              </a:lnSpc>
              <a:spcBef>
                <a:spcPts val="0"/>
              </a:spcBef>
              <a:spcAft>
                <a:spcPts val="0"/>
              </a:spcAft>
              <a:buSzPts val="1650"/>
              <a:buAutoNum type="arabicPeriod"/>
            </a:pPr>
            <a:r>
              <a:rPr lang="en-US" sz="1650">
                <a:latin typeface="Arial"/>
                <a:ea typeface="Arial"/>
                <a:cs typeface="Arial"/>
                <a:sym typeface="Arial"/>
              </a:rPr>
              <a:t>Enable simulation of “what-if” scenarios for optimization strategies.</a:t>
            </a:r>
            <a:br>
              <a:rPr lang="en-US" sz="1650">
                <a:latin typeface="Arial"/>
                <a:ea typeface="Arial"/>
                <a:cs typeface="Arial"/>
                <a:sym typeface="Arial"/>
              </a:rPr>
            </a:br>
            <a:endParaRPr sz="1650">
              <a:latin typeface="Arial"/>
              <a:ea typeface="Arial"/>
              <a:cs typeface="Arial"/>
              <a:sym typeface="Arial"/>
            </a:endParaRPr>
          </a:p>
          <a:p>
            <a:pPr indent="-333375" lvl="0" marL="457200" rtl="0" algn="l">
              <a:lnSpc>
                <a:spcPct val="115000"/>
              </a:lnSpc>
              <a:spcBef>
                <a:spcPts val="0"/>
              </a:spcBef>
              <a:spcAft>
                <a:spcPts val="0"/>
              </a:spcAft>
              <a:buSzPts val="1650"/>
              <a:buAutoNum type="arabicPeriod"/>
            </a:pPr>
            <a:r>
              <a:rPr lang="en-US" sz="1650">
                <a:latin typeface="Arial"/>
                <a:ea typeface="Arial"/>
                <a:cs typeface="Arial"/>
                <a:sym typeface="Arial"/>
              </a:rPr>
              <a:t>Reduce overall energy consumption and operational costs without affecting production.</a:t>
            </a:r>
            <a:br>
              <a:rPr lang="en-US" sz="1650">
                <a:latin typeface="Arial"/>
                <a:ea typeface="Arial"/>
                <a:cs typeface="Arial"/>
                <a:sym typeface="Arial"/>
              </a:rPr>
            </a:br>
            <a:endParaRPr sz="1650">
              <a:latin typeface="Arial"/>
              <a:ea typeface="Arial"/>
              <a:cs typeface="Arial"/>
              <a:sym typeface="Arial"/>
            </a:endParaRPr>
          </a:p>
          <a:p>
            <a:pPr indent="0" lvl="0" marL="0" rtl="0" algn="l">
              <a:spcBef>
                <a:spcPts val="1200"/>
              </a:spcBef>
              <a:spcAft>
                <a:spcPts val="0"/>
              </a:spcAft>
              <a:buNone/>
            </a:pPr>
            <a:r>
              <a:t/>
            </a:r>
            <a:endParaRPr sz="165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642345eb36_0_22"/>
          <p:cNvSpPr txBox="1"/>
          <p:nvPr>
            <p:ph type="title"/>
          </p:nvPr>
        </p:nvSpPr>
        <p:spPr>
          <a:xfrm>
            <a:off x="812800" y="7"/>
            <a:ext cx="10668000" cy="762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2"/>
              </a:solidFill>
              <a:latin typeface="Cambria"/>
              <a:ea typeface="Cambria"/>
              <a:cs typeface="Cambria"/>
              <a:sym typeface="Cambria"/>
            </a:endParaRPr>
          </a:p>
          <a:p>
            <a:pPr indent="0" lvl="0" marL="0" rtl="0" algn="l">
              <a:spcBef>
                <a:spcPts val="0"/>
              </a:spcBef>
              <a:spcAft>
                <a:spcPts val="0"/>
              </a:spcAft>
              <a:buNone/>
            </a:pPr>
            <a:r>
              <a:rPr lang="en-US" sz="2900">
                <a:solidFill>
                  <a:srgbClr val="17365D"/>
                </a:solidFill>
                <a:latin typeface="Cambria"/>
                <a:ea typeface="Cambria"/>
                <a:cs typeface="Cambria"/>
                <a:sym typeface="Cambria"/>
              </a:rPr>
              <a:t>Background and Related work for title Selection</a:t>
            </a:r>
            <a:endParaRPr sz="2900">
              <a:solidFill>
                <a:srgbClr val="17365D"/>
              </a:solidFill>
            </a:endParaRPr>
          </a:p>
          <a:p>
            <a:pPr indent="0" lvl="0" marL="0" rtl="0" algn="l">
              <a:spcBef>
                <a:spcPts val="0"/>
              </a:spcBef>
              <a:spcAft>
                <a:spcPts val="0"/>
              </a:spcAft>
              <a:buNone/>
            </a:pPr>
            <a:r>
              <a:t/>
            </a:r>
            <a:endParaRPr sz="2900">
              <a:solidFill>
                <a:srgbClr val="17365D"/>
              </a:solidFill>
            </a:endParaRPr>
          </a:p>
        </p:txBody>
      </p:sp>
      <p:sp>
        <p:nvSpPr>
          <p:cNvPr id="116" name="Google Shape;116;g3642345eb36_0_22"/>
          <p:cNvSpPr txBox="1"/>
          <p:nvPr>
            <p:ph idx="1" type="body"/>
          </p:nvPr>
        </p:nvSpPr>
        <p:spPr>
          <a:xfrm>
            <a:off x="812800" y="1143001"/>
            <a:ext cx="10668000" cy="49530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Clr>
                <a:schemeClr val="dk1"/>
              </a:buClr>
              <a:buSzPts val="1100"/>
              <a:buFont typeface="Arial"/>
              <a:buNone/>
            </a:pPr>
            <a:r>
              <a:rPr b="1" lang="en-US" sz="1650">
                <a:latin typeface="Arial"/>
                <a:ea typeface="Arial"/>
                <a:cs typeface="Arial"/>
                <a:sym typeface="Arial"/>
              </a:rPr>
              <a:t>Background:</a:t>
            </a:r>
            <a:r>
              <a:rPr lang="en-US" sz="1650">
                <a:latin typeface="Arial"/>
                <a:ea typeface="Arial"/>
                <a:cs typeface="Arial"/>
                <a:sym typeface="Arial"/>
              </a:rPr>
              <a:t> Smart factories leverage Industry 4.0 technologies such as IoT, AI, and cloud computing to improve operational efficiency. Energy optimization is critical for sustainability and cost reduction.</a:t>
            </a:r>
            <a:br>
              <a:rPr lang="en-US" sz="1650">
                <a:latin typeface="Arial"/>
                <a:ea typeface="Arial"/>
                <a:cs typeface="Arial"/>
                <a:sym typeface="Arial"/>
              </a:rPr>
            </a:br>
            <a:endParaRPr sz="1650">
              <a:latin typeface="Arial"/>
              <a:ea typeface="Arial"/>
              <a:cs typeface="Arial"/>
              <a:sym typeface="Arial"/>
            </a:endParaRPr>
          </a:p>
          <a:p>
            <a:pPr indent="0" lvl="0" marL="0" rtl="0" algn="l">
              <a:spcBef>
                <a:spcPts val="480"/>
              </a:spcBef>
              <a:spcAft>
                <a:spcPts val="0"/>
              </a:spcAft>
              <a:buClr>
                <a:schemeClr val="dk1"/>
              </a:buClr>
              <a:buSzPts val="1100"/>
              <a:buFont typeface="Arial"/>
              <a:buNone/>
            </a:pPr>
            <a:r>
              <a:rPr b="1" lang="en-US" sz="1650">
                <a:latin typeface="Arial"/>
                <a:ea typeface="Arial"/>
                <a:cs typeface="Arial"/>
                <a:sym typeface="Arial"/>
              </a:rPr>
              <a:t>Related Work:</a:t>
            </a:r>
            <a:br>
              <a:rPr b="1" lang="en-US" sz="1650">
                <a:latin typeface="Arial"/>
                <a:ea typeface="Arial"/>
                <a:cs typeface="Arial"/>
                <a:sym typeface="Arial"/>
              </a:rPr>
            </a:br>
            <a:endParaRPr b="1" sz="1650">
              <a:latin typeface="Arial"/>
              <a:ea typeface="Arial"/>
              <a:cs typeface="Arial"/>
              <a:sym typeface="Arial"/>
            </a:endParaRPr>
          </a:p>
          <a:p>
            <a:pPr indent="-333375" lvl="0" marL="457200" rtl="0" algn="l">
              <a:lnSpc>
                <a:spcPct val="115000"/>
              </a:lnSpc>
              <a:spcBef>
                <a:spcPts val="1200"/>
              </a:spcBef>
              <a:spcAft>
                <a:spcPts val="0"/>
              </a:spcAft>
              <a:buSzPts val="1650"/>
              <a:buChar char="●"/>
            </a:pPr>
            <a:r>
              <a:rPr lang="en-US" sz="1650">
                <a:latin typeface="Arial"/>
                <a:ea typeface="Arial"/>
                <a:cs typeface="Arial"/>
                <a:sym typeface="Arial"/>
              </a:rPr>
              <a:t>Siemens and GE have implemented Digital Twin models for predictive maintenance and energy management.</a:t>
            </a:r>
            <a:br>
              <a:rPr lang="en-US" sz="1650">
                <a:latin typeface="Arial"/>
                <a:ea typeface="Arial"/>
                <a:cs typeface="Arial"/>
                <a:sym typeface="Arial"/>
              </a:rPr>
            </a:br>
            <a:endParaRPr sz="1650">
              <a:latin typeface="Arial"/>
              <a:ea typeface="Arial"/>
              <a:cs typeface="Arial"/>
              <a:sym typeface="Arial"/>
            </a:endParaRPr>
          </a:p>
          <a:p>
            <a:pPr indent="-333375" lvl="0" marL="457200" rtl="0" algn="l">
              <a:lnSpc>
                <a:spcPct val="115000"/>
              </a:lnSpc>
              <a:spcBef>
                <a:spcPts val="0"/>
              </a:spcBef>
              <a:spcAft>
                <a:spcPts val="0"/>
              </a:spcAft>
              <a:buSzPts val="1650"/>
              <a:buChar char="●"/>
            </a:pPr>
            <a:r>
              <a:rPr lang="en-US" sz="1650">
                <a:latin typeface="Arial"/>
                <a:ea typeface="Arial"/>
                <a:cs typeface="Arial"/>
                <a:sym typeface="Arial"/>
              </a:rPr>
              <a:t>Research studies show Digital Twins can improve energy efficiency by 10–20% in manufacturing environments.</a:t>
            </a:r>
            <a:br>
              <a:rPr lang="en-US" sz="1650">
                <a:latin typeface="Arial"/>
                <a:ea typeface="Arial"/>
                <a:cs typeface="Arial"/>
                <a:sym typeface="Arial"/>
              </a:rPr>
            </a:br>
            <a:endParaRPr sz="1650">
              <a:latin typeface="Arial"/>
              <a:ea typeface="Arial"/>
              <a:cs typeface="Arial"/>
              <a:sym typeface="Arial"/>
            </a:endParaRPr>
          </a:p>
          <a:p>
            <a:pPr indent="-333375" lvl="0" marL="457200" rtl="0" algn="l">
              <a:lnSpc>
                <a:spcPct val="115000"/>
              </a:lnSpc>
              <a:spcBef>
                <a:spcPts val="0"/>
              </a:spcBef>
              <a:spcAft>
                <a:spcPts val="0"/>
              </a:spcAft>
              <a:buSzPts val="1650"/>
              <a:buChar char="●"/>
            </a:pPr>
            <a:r>
              <a:rPr lang="en-US" sz="1650">
                <a:latin typeface="Arial"/>
                <a:ea typeface="Arial"/>
                <a:cs typeface="Arial"/>
                <a:sym typeface="Arial"/>
              </a:rPr>
              <a:t>Gaps exist in scalable, real-time optimization models that are adaptable to varying production schedules and machinery.</a:t>
            </a:r>
            <a:br>
              <a:rPr lang="en-US" sz="1650">
                <a:latin typeface="Arial"/>
                <a:ea typeface="Arial"/>
                <a:cs typeface="Arial"/>
                <a:sym typeface="Arial"/>
              </a:rPr>
            </a:br>
            <a:endParaRPr sz="165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650">
                <a:latin typeface="Arial"/>
                <a:ea typeface="Arial"/>
                <a:cs typeface="Arial"/>
                <a:sym typeface="Arial"/>
              </a:rPr>
              <a:t>Title Justification:</a:t>
            </a:r>
            <a:r>
              <a:rPr lang="en-US" sz="1650">
                <a:latin typeface="Arial"/>
                <a:ea typeface="Arial"/>
                <a:cs typeface="Arial"/>
                <a:sym typeface="Arial"/>
              </a:rPr>
              <a:t> The title reflects the integration of a Digital Twin framework with a targeted application in </a:t>
            </a:r>
            <a:r>
              <a:rPr b="1" lang="en-US" sz="1650">
                <a:latin typeface="Arial"/>
                <a:ea typeface="Arial"/>
                <a:cs typeface="Arial"/>
                <a:sym typeface="Arial"/>
              </a:rPr>
              <a:t>energy optimization</a:t>
            </a:r>
            <a:r>
              <a:rPr lang="en-US" sz="1650">
                <a:latin typeface="Arial"/>
                <a:ea typeface="Arial"/>
                <a:cs typeface="Arial"/>
                <a:sym typeface="Arial"/>
              </a:rPr>
              <a:t>, directly addressing operational inefficiencies in modern factories.</a:t>
            </a:r>
            <a:endParaRPr sz="1650">
              <a:latin typeface="Arial"/>
              <a:ea typeface="Arial"/>
              <a:cs typeface="Arial"/>
              <a:sym typeface="Arial"/>
            </a:endParaRPr>
          </a:p>
          <a:p>
            <a:pPr indent="0" lvl="0" marL="0" rtl="0" algn="l">
              <a:spcBef>
                <a:spcPts val="480"/>
              </a:spcBef>
              <a:spcAft>
                <a:spcPts val="0"/>
              </a:spcAft>
              <a:buClr>
                <a:schemeClr val="dk1"/>
              </a:buClr>
              <a:buSzPts val="1100"/>
              <a:buFont typeface="Arial"/>
              <a:buNone/>
            </a:pPr>
            <a:r>
              <a:t/>
            </a:r>
            <a:endParaRPr sz="1650">
              <a:latin typeface="Arial"/>
              <a:ea typeface="Arial"/>
              <a:cs typeface="Arial"/>
              <a:sym typeface="Arial"/>
            </a:endParaRPr>
          </a:p>
          <a:p>
            <a:pPr indent="0" lvl="0" marL="0" rtl="0" algn="l">
              <a:spcBef>
                <a:spcPts val="480"/>
              </a:spcBef>
              <a:spcAft>
                <a:spcPts val="0"/>
              </a:spcAft>
              <a:buNone/>
            </a:pPr>
            <a:r>
              <a:t/>
            </a:r>
            <a:endParaRPr sz="165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642345eb36_0_27"/>
          <p:cNvSpPr txBox="1"/>
          <p:nvPr>
            <p:ph type="title"/>
          </p:nvPr>
        </p:nvSpPr>
        <p:spPr>
          <a:xfrm>
            <a:off x="812800" y="7"/>
            <a:ext cx="10668000" cy="7623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chemeClr val="dk2"/>
              </a:solidFill>
              <a:latin typeface="Cambria"/>
              <a:ea typeface="Cambria"/>
              <a:cs typeface="Cambria"/>
              <a:sym typeface="Cambria"/>
            </a:endParaRPr>
          </a:p>
          <a:p>
            <a:pPr indent="0" lvl="0" marL="0" rtl="0" algn="l">
              <a:spcBef>
                <a:spcPts val="0"/>
              </a:spcBef>
              <a:spcAft>
                <a:spcPts val="0"/>
              </a:spcAft>
              <a:buNone/>
            </a:pPr>
            <a:r>
              <a:rPr lang="en-US">
                <a:solidFill>
                  <a:srgbClr val="17365D"/>
                </a:solidFill>
                <a:latin typeface="Cambria"/>
                <a:ea typeface="Cambria"/>
                <a:cs typeface="Cambria"/>
                <a:sym typeface="Cambria"/>
              </a:rPr>
              <a:t>Innovation or Novel Contributions</a:t>
            </a:r>
            <a:endParaRPr sz="2900">
              <a:solidFill>
                <a:srgbClr val="17365D"/>
              </a:solidFill>
            </a:endParaRPr>
          </a:p>
        </p:txBody>
      </p:sp>
      <p:sp>
        <p:nvSpPr>
          <p:cNvPr id="122" name="Google Shape;122;g3642345eb36_0_27"/>
          <p:cNvSpPr txBox="1"/>
          <p:nvPr>
            <p:ph idx="1" type="body"/>
          </p:nvPr>
        </p:nvSpPr>
        <p:spPr>
          <a:xfrm>
            <a:off x="812800" y="1143001"/>
            <a:ext cx="10668000" cy="4953000"/>
          </a:xfrm>
          <a:prstGeom prst="rect">
            <a:avLst/>
          </a:prstGeom>
        </p:spPr>
        <p:txBody>
          <a:bodyPr anchorCtr="0" anchor="t" bIns="45700" lIns="91425" spcFirstLastPara="1" rIns="91425" wrap="square" tIns="45700">
            <a:normAutofit/>
          </a:bodyPr>
          <a:lstStyle/>
          <a:p>
            <a:pPr indent="-333375" lvl="0" marL="457200" rtl="0" algn="l">
              <a:lnSpc>
                <a:spcPct val="115000"/>
              </a:lnSpc>
              <a:spcBef>
                <a:spcPts val="1200"/>
              </a:spcBef>
              <a:spcAft>
                <a:spcPts val="0"/>
              </a:spcAft>
              <a:buSzPts val="1650"/>
              <a:buChar char="●"/>
            </a:pPr>
            <a:r>
              <a:rPr lang="en-US" sz="1650">
                <a:latin typeface="Arial"/>
                <a:ea typeface="Arial"/>
                <a:cs typeface="Arial"/>
                <a:sym typeface="Arial"/>
              </a:rPr>
              <a:t>Real-time Digital Twin specifically tailored for </a:t>
            </a:r>
            <a:r>
              <a:rPr b="1" lang="en-US" sz="1650">
                <a:latin typeface="Arial"/>
                <a:ea typeface="Arial"/>
                <a:cs typeface="Arial"/>
                <a:sym typeface="Arial"/>
              </a:rPr>
              <a:t>energy optimization</a:t>
            </a:r>
            <a:r>
              <a:rPr lang="en-US" sz="1650">
                <a:latin typeface="Arial"/>
                <a:ea typeface="Arial"/>
                <a:cs typeface="Arial"/>
                <a:sym typeface="Arial"/>
              </a:rPr>
              <a:t> in smart factories.</a:t>
            </a:r>
            <a:br>
              <a:rPr lang="en-US" sz="1650">
                <a:latin typeface="Arial"/>
                <a:ea typeface="Arial"/>
                <a:cs typeface="Arial"/>
                <a:sym typeface="Arial"/>
              </a:rPr>
            </a:br>
            <a:endParaRPr sz="1650">
              <a:latin typeface="Arial"/>
              <a:ea typeface="Arial"/>
              <a:cs typeface="Arial"/>
              <a:sym typeface="Arial"/>
            </a:endParaRPr>
          </a:p>
          <a:p>
            <a:pPr indent="-333375" lvl="0" marL="457200" rtl="0" algn="l">
              <a:lnSpc>
                <a:spcPct val="115000"/>
              </a:lnSpc>
              <a:spcBef>
                <a:spcPts val="0"/>
              </a:spcBef>
              <a:spcAft>
                <a:spcPts val="0"/>
              </a:spcAft>
              <a:buSzPts val="1650"/>
              <a:buChar char="●"/>
            </a:pPr>
            <a:r>
              <a:rPr lang="en-US" sz="1650">
                <a:latin typeface="Arial"/>
                <a:ea typeface="Arial"/>
                <a:cs typeface="Arial"/>
                <a:sym typeface="Arial"/>
              </a:rPr>
              <a:t>Integration of IoT-based monitoring with </a:t>
            </a:r>
            <a:r>
              <a:rPr b="1" lang="en-US" sz="1650">
                <a:latin typeface="Arial"/>
                <a:ea typeface="Arial"/>
                <a:cs typeface="Arial"/>
                <a:sym typeface="Arial"/>
              </a:rPr>
              <a:t>predictive AI models</a:t>
            </a:r>
            <a:r>
              <a:rPr lang="en-US" sz="1650">
                <a:latin typeface="Arial"/>
                <a:ea typeface="Arial"/>
                <a:cs typeface="Arial"/>
                <a:sym typeface="Arial"/>
              </a:rPr>
              <a:t> for dynamic energy management.</a:t>
            </a:r>
            <a:br>
              <a:rPr lang="en-US" sz="1650">
                <a:latin typeface="Arial"/>
                <a:ea typeface="Arial"/>
                <a:cs typeface="Arial"/>
                <a:sym typeface="Arial"/>
              </a:rPr>
            </a:br>
            <a:endParaRPr sz="1650">
              <a:latin typeface="Arial"/>
              <a:ea typeface="Arial"/>
              <a:cs typeface="Arial"/>
              <a:sym typeface="Arial"/>
            </a:endParaRPr>
          </a:p>
          <a:p>
            <a:pPr indent="-333375" lvl="0" marL="457200" rtl="0" algn="l">
              <a:lnSpc>
                <a:spcPct val="115000"/>
              </a:lnSpc>
              <a:spcBef>
                <a:spcPts val="0"/>
              </a:spcBef>
              <a:spcAft>
                <a:spcPts val="0"/>
              </a:spcAft>
              <a:buSzPts val="1650"/>
              <a:buChar char="●"/>
            </a:pPr>
            <a:r>
              <a:rPr lang="en-US" sz="1650">
                <a:latin typeface="Arial"/>
                <a:ea typeface="Arial"/>
                <a:cs typeface="Arial"/>
                <a:sym typeface="Arial"/>
              </a:rPr>
              <a:t>Scenario-based simulation for risk-free optimization testing before real-world application.</a:t>
            </a:r>
            <a:br>
              <a:rPr lang="en-US" sz="1650">
                <a:latin typeface="Arial"/>
                <a:ea typeface="Arial"/>
                <a:cs typeface="Arial"/>
                <a:sym typeface="Arial"/>
              </a:rPr>
            </a:br>
            <a:endParaRPr sz="1650">
              <a:latin typeface="Arial"/>
              <a:ea typeface="Arial"/>
              <a:cs typeface="Arial"/>
              <a:sym typeface="Arial"/>
            </a:endParaRPr>
          </a:p>
          <a:p>
            <a:pPr indent="-333375" lvl="0" marL="457200" rtl="0" algn="l">
              <a:lnSpc>
                <a:spcPct val="115000"/>
              </a:lnSpc>
              <a:spcBef>
                <a:spcPts val="0"/>
              </a:spcBef>
              <a:spcAft>
                <a:spcPts val="0"/>
              </a:spcAft>
              <a:buSzPts val="1650"/>
              <a:buChar char="●"/>
            </a:pPr>
            <a:r>
              <a:rPr lang="en-US" sz="1650">
                <a:latin typeface="Arial"/>
                <a:ea typeface="Arial"/>
                <a:cs typeface="Arial"/>
                <a:sym typeface="Arial"/>
              </a:rPr>
              <a:t>Modular architecture allowing deployment across different factory setups and scales.</a:t>
            </a:r>
            <a:endParaRPr sz="1650">
              <a:latin typeface="Arial"/>
              <a:ea typeface="Arial"/>
              <a:cs typeface="Arial"/>
              <a:sym typeface="Arial"/>
            </a:endParaRPr>
          </a:p>
          <a:p>
            <a:pPr indent="0" lvl="0" marL="457200" rtl="0" algn="l">
              <a:lnSpc>
                <a:spcPct val="115000"/>
              </a:lnSpc>
              <a:spcBef>
                <a:spcPts val="1200"/>
              </a:spcBef>
              <a:spcAft>
                <a:spcPts val="0"/>
              </a:spcAft>
              <a:buNone/>
            </a:pPr>
            <a:r>
              <a:t/>
            </a:r>
            <a:endParaRPr sz="1650">
              <a:latin typeface="Arial"/>
              <a:ea typeface="Arial"/>
              <a:cs typeface="Arial"/>
              <a:sym typeface="Arial"/>
            </a:endParaRPr>
          </a:p>
          <a:p>
            <a:pPr indent="-333375" lvl="0" marL="457200" rtl="0" algn="l">
              <a:lnSpc>
                <a:spcPct val="115000"/>
              </a:lnSpc>
              <a:spcBef>
                <a:spcPts val="1200"/>
              </a:spcBef>
              <a:spcAft>
                <a:spcPts val="0"/>
              </a:spcAft>
              <a:buSzPts val="1650"/>
              <a:buChar char="●"/>
            </a:pPr>
            <a:r>
              <a:rPr lang="en-US" sz="1650">
                <a:latin typeface="Arial"/>
                <a:ea typeface="Arial"/>
                <a:cs typeface="Arial"/>
                <a:sym typeface="Arial"/>
              </a:rPr>
              <a:t>Potential integration with renewable energy sources for carbon footprint reduction.</a:t>
            </a:r>
            <a:br>
              <a:rPr lang="en-US"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a:p>
            <a:pPr indent="0" lvl="0" marL="0" rtl="0" algn="l">
              <a:spcBef>
                <a:spcPts val="480"/>
              </a:spcBef>
              <a:spcAft>
                <a:spcPts val="0"/>
              </a:spcAft>
              <a:buNone/>
            </a:pPr>
            <a:r>
              <a:t/>
            </a:r>
            <a:endParaRPr b="1" sz="11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Analysis of Problem Statement</a:t>
            </a:r>
            <a:endParaRPr/>
          </a:p>
        </p:txBody>
      </p:sp>
      <p:sp>
        <p:nvSpPr>
          <p:cNvPr id="128" name="Google Shape;128;p5"/>
          <p:cNvSpPr txBox="1"/>
          <p:nvPr>
            <p:ph idx="1" type="body"/>
          </p:nvPr>
        </p:nvSpPr>
        <p:spPr>
          <a:xfrm>
            <a:off x="812800" y="1097275"/>
            <a:ext cx="10668000" cy="4998900"/>
          </a:xfrm>
          <a:prstGeom prst="rect">
            <a:avLst/>
          </a:prstGeom>
          <a:noFill/>
          <a:ln>
            <a:noFill/>
          </a:ln>
        </p:spPr>
        <p:txBody>
          <a:bodyPr anchorCtr="0" anchor="t" bIns="45700" lIns="91425" spcFirstLastPara="1" rIns="91425" wrap="square" tIns="45700">
            <a:normAutofit fontScale="25000" lnSpcReduction="20000"/>
          </a:bodyPr>
          <a:lstStyle/>
          <a:p>
            <a:pPr indent="-190500" lvl="0" marL="342900" rtl="0" algn="just">
              <a:lnSpc>
                <a:spcPct val="100000"/>
              </a:lnSpc>
              <a:spcBef>
                <a:spcPts val="0"/>
              </a:spcBef>
              <a:spcAft>
                <a:spcPts val="0"/>
              </a:spcAft>
              <a:buClr>
                <a:schemeClr val="dk1"/>
              </a:buClr>
              <a:buSzPct val="30000"/>
              <a:buNone/>
            </a:pPr>
            <a:r>
              <a:rPr b="1" lang="en-US" sz="8000">
                <a:latin typeface="Cambria"/>
                <a:ea typeface="Cambria"/>
                <a:cs typeface="Cambria"/>
                <a:sym typeface="Cambria"/>
              </a:rPr>
              <a:t>Technology Stack Components:</a:t>
            </a:r>
            <a:endParaRPr b="1" sz="8000">
              <a:latin typeface="Cambria"/>
              <a:ea typeface="Cambria"/>
              <a:cs typeface="Cambria"/>
              <a:sym typeface="Cambria"/>
            </a:endParaRPr>
          </a:p>
          <a:p>
            <a:pPr indent="0" lvl="0" marL="0" rtl="0" algn="l">
              <a:lnSpc>
                <a:spcPct val="115000"/>
              </a:lnSpc>
              <a:spcBef>
                <a:spcPts val="1400"/>
              </a:spcBef>
              <a:spcAft>
                <a:spcPts val="0"/>
              </a:spcAft>
              <a:buClr>
                <a:schemeClr val="dk1"/>
              </a:buClr>
              <a:buSzPts val="275"/>
              <a:buFont typeface="Arial"/>
              <a:buNone/>
            </a:pPr>
            <a:r>
              <a:rPr b="1" lang="en-US" sz="6400">
                <a:latin typeface="Arial"/>
                <a:ea typeface="Arial"/>
                <a:cs typeface="Arial"/>
                <a:sym typeface="Arial"/>
              </a:rPr>
              <a:t>1. Data Acquisition and Processing (Simulated)</a:t>
            </a:r>
            <a:endParaRPr b="1" sz="6400">
              <a:latin typeface="Arial"/>
              <a:ea typeface="Arial"/>
              <a:cs typeface="Arial"/>
              <a:sym typeface="Arial"/>
            </a:endParaRPr>
          </a:p>
          <a:p>
            <a:pPr indent="-330200" lvl="0" marL="457200" rtl="0" algn="l">
              <a:lnSpc>
                <a:spcPct val="115000"/>
              </a:lnSpc>
              <a:spcBef>
                <a:spcPts val="1200"/>
              </a:spcBef>
              <a:spcAft>
                <a:spcPts val="0"/>
              </a:spcAft>
              <a:buSzPct val="100000"/>
              <a:buChar char="●"/>
            </a:pPr>
            <a:r>
              <a:rPr b="1" lang="en-US" sz="6400">
                <a:latin typeface="Arial"/>
                <a:ea typeface="Arial"/>
                <a:cs typeface="Arial"/>
                <a:sym typeface="Arial"/>
              </a:rPr>
              <a:t>Virtual Data Generation:</a:t>
            </a:r>
            <a:r>
              <a:rPr lang="en-US" sz="6400">
                <a:latin typeface="Arial"/>
                <a:ea typeface="Arial"/>
                <a:cs typeface="Arial"/>
                <a:sym typeface="Arial"/>
              </a:rPr>
              <a:t> Software-based components to simulate real-time data streams on energy consumption, machine status, and environmental factors. This replaces physical IoT sensors with a virtual data source.</a:t>
            </a:r>
            <a:endParaRPr sz="6400">
              <a:latin typeface="Arial"/>
              <a:ea typeface="Arial"/>
              <a:cs typeface="Arial"/>
              <a:sym typeface="Arial"/>
            </a:endParaRPr>
          </a:p>
          <a:p>
            <a:pPr indent="-330200" lvl="0" marL="457200" rtl="0" algn="l">
              <a:lnSpc>
                <a:spcPct val="115000"/>
              </a:lnSpc>
              <a:spcBef>
                <a:spcPts val="0"/>
              </a:spcBef>
              <a:spcAft>
                <a:spcPts val="0"/>
              </a:spcAft>
              <a:buSzPct val="100000"/>
              <a:buChar char="●"/>
            </a:pPr>
            <a:r>
              <a:rPr b="1" lang="en-US" sz="6400">
                <a:latin typeface="Arial"/>
                <a:ea typeface="Arial"/>
                <a:cs typeface="Arial"/>
                <a:sym typeface="Arial"/>
              </a:rPr>
              <a:t>Edge Computing (Virtual):</a:t>
            </a:r>
            <a:r>
              <a:rPr lang="en-US" sz="6400">
                <a:latin typeface="Arial"/>
                <a:ea typeface="Arial"/>
                <a:cs typeface="Arial"/>
                <a:sym typeface="Arial"/>
              </a:rPr>
              <a:t> A software layer to simulate local processing and filtering of data before it is sent to a central server, mimicking the functions of edge devices in a physical factory.</a:t>
            </a:r>
            <a:endParaRPr sz="6400">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n-US" sz="6400">
                <a:latin typeface="Arial"/>
                <a:ea typeface="Arial"/>
                <a:cs typeface="Arial"/>
                <a:sym typeface="Arial"/>
              </a:rPr>
              <a:t>2. Digital Twin and Simulation</a:t>
            </a:r>
            <a:endParaRPr b="1" sz="6400">
              <a:latin typeface="Arial"/>
              <a:ea typeface="Arial"/>
              <a:cs typeface="Arial"/>
              <a:sym typeface="Arial"/>
            </a:endParaRPr>
          </a:p>
          <a:p>
            <a:pPr indent="-330200" lvl="0" marL="457200" rtl="0" algn="l">
              <a:lnSpc>
                <a:spcPct val="115000"/>
              </a:lnSpc>
              <a:spcBef>
                <a:spcPts val="1200"/>
              </a:spcBef>
              <a:spcAft>
                <a:spcPts val="0"/>
              </a:spcAft>
              <a:buSzPct val="100000"/>
              <a:buChar char="●"/>
            </a:pPr>
            <a:r>
              <a:rPr b="1" lang="en-US" sz="6400">
                <a:latin typeface="Arial"/>
                <a:ea typeface="Arial"/>
                <a:cs typeface="Arial"/>
                <a:sym typeface="Arial"/>
              </a:rPr>
              <a:t>3D Modeling Software:</a:t>
            </a:r>
            <a:r>
              <a:rPr lang="en-US" sz="6400">
                <a:latin typeface="Arial"/>
                <a:ea typeface="Arial"/>
                <a:cs typeface="Arial"/>
                <a:sym typeface="Arial"/>
              </a:rPr>
              <a:t> Tools for creating a virtual, photorealistic replica of the factory layout and machinery.</a:t>
            </a:r>
            <a:endParaRPr sz="6400">
              <a:latin typeface="Arial"/>
              <a:ea typeface="Arial"/>
              <a:cs typeface="Arial"/>
              <a:sym typeface="Arial"/>
            </a:endParaRPr>
          </a:p>
          <a:p>
            <a:pPr indent="-330200" lvl="0" marL="457200" rtl="0" algn="l">
              <a:lnSpc>
                <a:spcPct val="115000"/>
              </a:lnSpc>
              <a:spcBef>
                <a:spcPts val="0"/>
              </a:spcBef>
              <a:spcAft>
                <a:spcPts val="0"/>
              </a:spcAft>
              <a:buSzPct val="100000"/>
              <a:buChar char="●"/>
            </a:pPr>
            <a:r>
              <a:rPr b="1" lang="en-US" sz="6400">
                <a:latin typeface="Arial"/>
                <a:ea typeface="Arial"/>
                <a:cs typeface="Arial"/>
                <a:sym typeface="Arial"/>
              </a:rPr>
              <a:t>Simulation Engine:</a:t>
            </a:r>
            <a:r>
              <a:rPr lang="en-US" sz="6400">
                <a:latin typeface="Arial"/>
                <a:ea typeface="Arial"/>
                <a:cs typeface="Arial"/>
                <a:sym typeface="Arial"/>
              </a:rPr>
              <a:t> A software platform to run simulations of the factory’s operational processes, energy flows, and various scenarios to test and validate hypotheses.</a:t>
            </a:r>
            <a:endParaRPr sz="6400">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n-US" sz="6400">
                <a:latin typeface="Arial"/>
                <a:ea typeface="Arial"/>
                <a:cs typeface="Arial"/>
                <a:sym typeface="Arial"/>
              </a:rPr>
              <a:t>3. Analytics and Optimization</a:t>
            </a:r>
            <a:endParaRPr b="1" sz="6400">
              <a:latin typeface="Arial"/>
              <a:ea typeface="Arial"/>
              <a:cs typeface="Arial"/>
              <a:sym typeface="Arial"/>
            </a:endParaRPr>
          </a:p>
          <a:p>
            <a:pPr indent="-330200" lvl="0" marL="457200" rtl="0" algn="l">
              <a:lnSpc>
                <a:spcPct val="115000"/>
              </a:lnSpc>
              <a:spcBef>
                <a:spcPts val="1200"/>
              </a:spcBef>
              <a:spcAft>
                <a:spcPts val="0"/>
              </a:spcAft>
              <a:buSzPct val="100000"/>
              <a:buChar char="●"/>
            </a:pPr>
            <a:r>
              <a:rPr b="1" lang="en-US" sz="6400">
                <a:latin typeface="Arial"/>
                <a:ea typeface="Arial"/>
                <a:cs typeface="Arial"/>
                <a:sym typeface="Arial"/>
              </a:rPr>
              <a:t>Machine Learning Frameworks:</a:t>
            </a:r>
            <a:r>
              <a:rPr lang="en-US" sz="6400">
                <a:latin typeface="Arial"/>
                <a:ea typeface="Arial"/>
                <a:cs typeface="Arial"/>
                <a:sym typeface="Arial"/>
              </a:rPr>
              <a:t> Libraries and tools to develop and train models for forecasting energy demand, identifying anomalies, and optimizing consumption within the simulated environment.</a:t>
            </a:r>
            <a:endParaRPr sz="6400">
              <a:latin typeface="Arial"/>
              <a:ea typeface="Arial"/>
              <a:cs typeface="Arial"/>
              <a:sym typeface="Arial"/>
            </a:endParaRPr>
          </a:p>
          <a:p>
            <a:pPr indent="-330200" lvl="0" marL="457200" rtl="0" algn="l">
              <a:lnSpc>
                <a:spcPct val="115000"/>
              </a:lnSpc>
              <a:spcBef>
                <a:spcPts val="0"/>
              </a:spcBef>
              <a:spcAft>
                <a:spcPts val="0"/>
              </a:spcAft>
              <a:buSzPct val="100000"/>
              <a:buChar char="●"/>
            </a:pPr>
            <a:r>
              <a:rPr b="1" lang="en-US" sz="6400">
                <a:latin typeface="Arial"/>
                <a:ea typeface="Arial"/>
                <a:cs typeface="Arial"/>
                <a:sym typeface="Arial"/>
              </a:rPr>
              <a:t>AI/ML Models:</a:t>
            </a:r>
            <a:r>
              <a:rPr lang="en-US" sz="6400">
                <a:latin typeface="Arial"/>
                <a:ea typeface="Arial"/>
                <a:cs typeface="Arial"/>
                <a:sym typeface="Arial"/>
              </a:rPr>
              <a:t> Pre-built models for predictive analytics, such as forecasting energy demands and suggesting optimal operational schedules based on simulated data.</a:t>
            </a:r>
            <a:endParaRPr sz="6400">
              <a:latin typeface="Arial"/>
              <a:ea typeface="Arial"/>
              <a:cs typeface="Arial"/>
              <a:sym typeface="Arial"/>
            </a:endParaRPr>
          </a:p>
          <a:p>
            <a:pPr indent="-190500" lvl="0" marL="342900" rtl="0" algn="just">
              <a:lnSpc>
                <a:spcPct val="100000"/>
              </a:lnSpc>
              <a:spcBef>
                <a:spcPts val="1200"/>
              </a:spcBef>
              <a:spcAft>
                <a:spcPts val="0"/>
              </a:spcAft>
              <a:buClr>
                <a:schemeClr val="dk1"/>
              </a:buClr>
              <a:buSzPct val="39948"/>
              <a:buNone/>
            </a:pPr>
            <a:r>
              <a:t/>
            </a:r>
            <a:endParaRPr b="1" sz="6007">
              <a:latin typeface="Arial"/>
              <a:ea typeface="Arial"/>
              <a:cs typeface="Arial"/>
              <a:sym typeface="Arial"/>
            </a:endParaRPr>
          </a:p>
          <a:p>
            <a:pPr indent="-190500" lvl="0" marL="342900" rtl="0" algn="just">
              <a:lnSpc>
                <a:spcPct val="100000"/>
              </a:lnSpc>
              <a:spcBef>
                <a:spcPts val="0"/>
              </a:spcBef>
              <a:spcAft>
                <a:spcPts val="0"/>
              </a:spcAft>
              <a:buClr>
                <a:schemeClr val="dk1"/>
              </a:buClr>
              <a:buSzPct val="1000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ct val="1000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ct val="1000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ct val="100000"/>
              <a:buNone/>
            </a:pPr>
            <a:r>
              <a:t/>
            </a:r>
            <a:endParaRPr>
              <a:latin typeface="Cambria"/>
              <a:ea typeface="Cambria"/>
              <a:cs typeface="Cambria"/>
              <a:sym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785d2ba4ce_0_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Analysis of Problem Statement</a:t>
            </a:r>
            <a:endParaRPr/>
          </a:p>
        </p:txBody>
      </p:sp>
      <p:sp>
        <p:nvSpPr>
          <p:cNvPr id="134" name="Google Shape;134;g3785d2ba4ce_0_5"/>
          <p:cNvSpPr txBox="1"/>
          <p:nvPr>
            <p:ph idx="1" type="body"/>
          </p:nvPr>
        </p:nvSpPr>
        <p:spPr>
          <a:xfrm>
            <a:off x="812800" y="1097275"/>
            <a:ext cx="10668000" cy="4998900"/>
          </a:xfrm>
          <a:prstGeom prst="rect">
            <a:avLst/>
          </a:prstGeom>
          <a:noFill/>
          <a:ln>
            <a:noFill/>
          </a:ln>
        </p:spPr>
        <p:txBody>
          <a:bodyPr anchorCtr="0" anchor="t" bIns="45700" lIns="91425" spcFirstLastPara="1" rIns="91425" wrap="square" tIns="45700">
            <a:normAutofit lnSpcReduction="20000"/>
          </a:bodyPr>
          <a:lstStyle/>
          <a:p>
            <a:pPr indent="-190500" lvl="0" marL="342900" rtl="0" algn="just">
              <a:lnSpc>
                <a:spcPct val="100000"/>
              </a:lnSpc>
              <a:spcBef>
                <a:spcPts val="0"/>
              </a:spcBef>
              <a:spcAft>
                <a:spcPts val="0"/>
              </a:spcAft>
              <a:buClr>
                <a:schemeClr val="dk1"/>
              </a:buClr>
              <a:buSzPts val="2400"/>
              <a:buNone/>
            </a:pPr>
            <a:r>
              <a:rPr b="1" lang="en-US" sz="2200">
                <a:latin typeface="Cambria"/>
                <a:ea typeface="Cambria"/>
                <a:cs typeface="Cambria"/>
                <a:sym typeface="Cambria"/>
              </a:rPr>
              <a:t>Technology Stack Components:</a:t>
            </a:r>
            <a:endParaRPr sz="2200">
              <a:latin typeface="Arial"/>
              <a:ea typeface="Arial"/>
              <a:cs typeface="Arial"/>
              <a:sym typeface="Arial"/>
            </a:endParaRPr>
          </a:p>
          <a:p>
            <a:pPr indent="0" lvl="0" marL="0" rtl="0" algn="l">
              <a:lnSpc>
                <a:spcPct val="115000"/>
              </a:lnSpc>
              <a:spcBef>
                <a:spcPts val="1400"/>
              </a:spcBef>
              <a:spcAft>
                <a:spcPts val="0"/>
              </a:spcAft>
              <a:buClr>
                <a:schemeClr val="dk1"/>
              </a:buClr>
              <a:buSzPts val="1100"/>
              <a:buNone/>
            </a:pPr>
            <a:r>
              <a:rPr b="1" lang="en-US" sz="1700">
                <a:latin typeface="Arial"/>
                <a:ea typeface="Arial"/>
                <a:cs typeface="Arial"/>
                <a:sym typeface="Arial"/>
              </a:rPr>
              <a:t>4. User Interface and Visualization</a:t>
            </a:r>
            <a:endParaRPr b="1" sz="1700">
              <a:latin typeface="Arial"/>
              <a:ea typeface="Arial"/>
              <a:cs typeface="Arial"/>
              <a:sym typeface="Arial"/>
            </a:endParaRPr>
          </a:p>
          <a:p>
            <a:pPr indent="-336550" lvl="0" marL="457200" rtl="0" algn="l">
              <a:lnSpc>
                <a:spcPct val="115000"/>
              </a:lnSpc>
              <a:spcBef>
                <a:spcPts val="1200"/>
              </a:spcBef>
              <a:spcAft>
                <a:spcPts val="0"/>
              </a:spcAft>
              <a:buSzPts val="1700"/>
              <a:buChar char="●"/>
            </a:pPr>
            <a:r>
              <a:rPr b="1" lang="en-US" sz="1700">
                <a:latin typeface="Arial"/>
                <a:ea typeface="Arial"/>
                <a:cs typeface="Arial"/>
                <a:sym typeface="Arial"/>
              </a:rPr>
              <a:t>Dashboarding Tools:</a:t>
            </a:r>
            <a:r>
              <a:rPr lang="en-US" sz="1700">
                <a:latin typeface="Arial"/>
                <a:ea typeface="Arial"/>
                <a:cs typeface="Arial"/>
                <a:sym typeface="Arial"/>
              </a:rPr>
              <a:t> Software for creating dashboards that visualize simulated real-time energy usage, simulation results, and optimization recommendations.</a:t>
            </a: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b="1" lang="en-US" sz="1700">
                <a:latin typeface="Arial"/>
                <a:ea typeface="Arial"/>
                <a:cs typeface="Arial"/>
                <a:sym typeface="Arial"/>
              </a:rPr>
              <a:t>API Gateway:</a:t>
            </a:r>
            <a:r>
              <a:rPr lang="en-US" sz="1700">
                <a:latin typeface="Arial"/>
                <a:ea typeface="Arial"/>
                <a:cs typeface="Arial"/>
                <a:sym typeface="Arial"/>
              </a:rPr>
              <a:t> A system to manage and secure communication between the different virtual components and other potential third-party software systems.</a:t>
            </a:r>
            <a:endParaRPr sz="1700">
              <a:latin typeface="Arial"/>
              <a:ea typeface="Arial"/>
              <a:cs typeface="Arial"/>
              <a:sym typeface="Arial"/>
            </a:endParaRPr>
          </a:p>
          <a:p>
            <a:pPr indent="-190500" lvl="0" marL="342900" rtl="0" algn="just">
              <a:lnSpc>
                <a:spcPct val="100000"/>
              </a:lnSpc>
              <a:spcBef>
                <a:spcPts val="1200"/>
              </a:spcBef>
              <a:spcAft>
                <a:spcPts val="0"/>
              </a:spcAft>
              <a:buClr>
                <a:schemeClr val="dk1"/>
              </a:buClr>
              <a:buSzPts val="2400"/>
              <a:buNone/>
            </a:pPr>
            <a:r>
              <a:t/>
            </a:r>
            <a:endParaRPr b="1" sz="6007">
              <a:latin typeface="Arial"/>
              <a:ea typeface="Arial"/>
              <a:cs typeface="Arial"/>
              <a:sym typeface="Arial"/>
            </a:endParaRPr>
          </a:p>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Analysis of Problem Statement </a:t>
            </a:r>
            <a:r>
              <a:rPr lang="en-US" sz="2000">
                <a:latin typeface="Cambria"/>
                <a:ea typeface="Cambria"/>
                <a:cs typeface="Cambria"/>
                <a:sym typeface="Cambria"/>
              </a:rPr>
              <a:t>(contd...)</a:t>
            </a:r>
            <a:endParaRPr>
              <a:latin typeface="Cambria"/>
              <a:ea typeface="Cambria"/>
              <a:cs typeface="Cambria"/>
              <a:sym typeface="Cambria"/>
            </a:endParaRPr>
          </a:p>
        </p:txBody>
      </p:sp>
      <p:sp>
        <p:nvSpPr>
          <p:cNvPr id="140" name="Google Shape;140;p8"/>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346075" lvl="0" marL="457200" rtl="0" algn="l">
              <a:lnSpc>
                <a:spcPct val="105000"/>
              </a:lnSpc>
              <a:spcBef>
                <a:spcPts val="1200"/>
              </a:spcBef>
              <a:spcAft>
                <a:spcPts val="0"/>
              </a:spcAft>
              <a:buSzPts val="1850"/>
              <a:buChar char="●"/>
            </a:pPr>
            <a:r>
              <a:rPr b="1" lang="en-US" sz="1850">
                <a:latin typeface="Arial"/>
                <a:ea typeface="Arial"/>
                <a:cs typeface="Arial"/>
                <a:sym typeface="Arial"/>
              </a:rPr>
              <a:t>Software Requirements:</a:t>
            </a:r>
            <a:endParaRPr b="1" sz="1850">
              <a:latin typeface="Arial"/>
              <a:ea typeface="Arial"/>
              <a:cs typeface="Arial"/>
              <a:sym typeface="Arial"/>
            </a:endParaRPr>
          </a:p>
          <a:p>
            <a:pPr indent="-346075" lvl="1" marL="914400" rtl="0" algn="l">
              <a:lnSpc>
                <a:spcPct val="105000"/>
              </a:lnSpc>
              <a:spcBef>
                <a:spcPts val="0"/>
              </a:spcBef>
              <a:spcAft>
                <a:spcPts val="0"/>
              </a:spcAft>
              <a:buSzPts val="1850"/>
              <a:buChar char="○"/>
            </a:pPr>
            <a:r>
              <a:rPr b="1" lang="en-US" sz="1850">
                <a:latin typeface="Arial"/>
                <a:ea typeface="Arial"/>
                <a:cs typeface="Arial"/>
                <a:sym typeface="Arial"/>
              </a:rPr>
              <a:t>Operating System:</a:t>
            </a:r>
            <a:r>
              <a:rPr lang="en-US" sz="1850">
                <a:latin typeface="Arial"/>
                <a:ea typeface="Arial"/>
                <a:cs typeface="Arial"/>
                <a:sym typeface="Arial"/>
              </a:rPr>
              <a:t> A compatible OS for the server and edge devices (e.g., Linux, Windows Server).</a:t>
            </a:r>
            <a:endParaRPr sz="1850">
              <a:latin typeface="Arial"/>
              <a:ea typeface="Arial"/>
              <a:cs typeface="Arial"/>
              <a:sym typeface="Arial"/>
            </a:endParaRPr>
          </a:p>
          <a:p>
            <a:pPr indent="-346075" lvl="1" marL="914400" rtl="0" algn="l">
              <a:lnSpc>
                <a:spcPct val="105000"/>
              </a:lnSpc>
              <a:spcBef>
                <a:spcPts val="0"/>
              </a:spcBef>
              <a:spcAft>
                <a:spcPts val="0"/>
              </a:spcAft>
              <a:buSzPts val="1850"/>
              <a:buChar char="○"/>
            </a:pPr>
            <a:r>
              <a:rPr b="1" lang="en-US" sz="1850">
                <a:latin typeface="Arial"/>
                <a:ea typeface="Arial"/>
                <a:cs typeface="Arial"/>
                <a:sym typeface="Arial"/>
              </a:rPr>
              <a:t>Programming Languages:</a:t>
            </a:r>
            <a:r>
              <a:rPr lang="en-US" sz="1850">
                <a:latin typeface="Arial"/>
                <a:ea typeface="Arial"/>
                <a:cs typeface="Arial"/>
                <a:sym typeface="Arial"/>
              </a:rPr>
              <a:t> Languages like Python for data analysis, machine learning, and backend logic, along with JavaScript for the frontend.</a:t>
            </a:r>
            <a:endParaRPr sz="1850">
              <a:latin typeface="Arial"/>
              <a:ea typeface="Arial"/>
              <a:cs typeface="Arial"/>
              <a:sym typeface="Arial"/>
            </a:endParaRPr>
          </a:p>
          <a:p>
            <a:pPr indent="-346075" lvl="1" marL="914400" rtl="0" algn="l">
              <a:lnSpc>
                <a:spcPct val="105000"/>
              </a:lnSpc>
              <a:spcBef>
                <a:spcPts val="0"/>
              </a:spcBef>
              <a:spcAft>
                <a:spcPts val="0"/>
              </a:spcAft>
              <a:buSzPts val="1850"/>
              <a:buChar char="○"/>
            </a:pPr>
            <a:r>
              <a:rPr b="1" lang="en-US" sz="1850">
                <a:latin typeface="Arial"/>
                <a:ea typeface="Arial"/>
                <a:cs typeface="Arial"/>
                <a:sym typeface="Arial"/>
              </a:rPr>
              <a:t>Database:</a:t>
            </a:r>
            <a:r>
              <a:rPr lang="en-US" sz="1850">
                <a:latin typeface="Arial"/>
                <a:ea typeface="Arial"/>
                <a:cs typeface="Arial"/>
                <a:sym typeface="Arial"/>
              </a:rPr>
              <a:t> A time-series database (e.g., InfluxDB) and a relational database (e.g., PostgreSQL) for storing configuration and metadata.</a:t>
            </a:r>
            <a:endParaRPr sz="1850">
              <a:latin typeface="Arial"/>
              <a:ea typeface="Arial"/>
              <a:cs typeface="Arial"/>
              <a:sym typeface="Arial"/>
            </a:endParaRPr>
          </a:p>
          <a:p>
            <a:pPr indent="-346075" lvl="1" marL="914400" rtl="0" algn="l">
              <a:lnSpc>
                <a:spcPct val="105000"/>
              </a:lnSpc>
              <a:spcBef>
                <a:spcPts val="0"/>
              </a:spcBef>
              <a:spcAft>
                <a:spcPts val="0"/>
              </a:spcAft>
              <a:buSzPts val="1850"/>
              <a:buChar char="○"/>
            </a:pPr>
            <a:r>
              <a:rPr b="1" lang="en-US" sz="1850">
                <a:latin typeface="Arial"/>
                <a:ea typeface="Arial"/>
                <a:cs typeface="Arial"/>
                <a:sym typeface="Arial"/>
              </a:rPr>
              <a:t>Data Visualization Libraries:</a:t>
            </a:r>
            <a:r>
              <a:rPr lang="en-US" sz="1850">
                <a:latin typeface="Arial"/>
                <a:ea typeface="Arial"/>
                <a:cs typeface="Arial"/>
                <a:sym typeface="Arial"/>
              </a:rPr>
              <a:t> Tools like D3.js or Plotly for creating interactive dashboards.</a:t>
            </a:r>
            <a:endParaRPr sz="1850">
              <a:latin typeface="Arial"/>
              <a:ea typeface="Arial"/>
              <a:cs typeface="Arial"/>
              <a:sym typeface="Arial"/>
            </a:endParaRPr>
          </a:p>
          <a:p>
            <a:pPr indent="-346075" lvl="1" marL="914400" rtl="0" algn="l">
              <a:lnSpc>
                <a:spcPct val="105000"/>
              </a:lnSpc>
              <a:spcBef>
                <a:spcPts val="0"/>
              </a:spcBef>
              <a:spcAft>
                <a:spcPts val="0"/>
              </a:spcAft>
              <a:buSzPts val="1850"/>
              <a:buChar char="○"/>
            </a:pPr>
            <a:r>
              <a:rPr b="1" lang="en-US" sz="1850">
                <a:latin typeface="Arial"/>
                <a:ea typeface="Arial"/>
                <a:cs typeface="Arial"/>
                <a:sym typeface="Arial"/>
              </a:rPr>
              <a:t>Cloud Services:</a:t>
            </a:r>
            <a:r>
              <a:rPr lang="en-US" sz="1850">
                <a:latin typeface="Arial"/>
                <a:ea typeface="Arial"/>
                <a:cs typeface="Arial"/>
                <a:sym typeface="Arial"/>
              </a:rPr>
              <a:t> Platform as a Service (PaaS) and Infrastructure as a Service (IaaS) offerings from a cloud provider for scalability and management.</a:t>
            </a:r>
            <a:endParaRPr sz="1850">
              <a:latin typeface="Arial"/>
              <a:ea typeface="Arial"/>
              <a:cs typeface="Arial"/>
              <a:sym typeface="Arial"/>
            </a:endParaRPr>
          </a:p>
          <a:p>
            <a:pPr indent="-190500" lvl="0" marL="342900" rtl="0" algn="just">
              <a:lnSpc>
                <a:spcPct val="200000"/>
              </a:lnSpc>
              <a:spcBef>
                <a:spcPts val="1200"/>
              </a:spcBef>
              <a:spcAft>
                <a:spcPts val="0"/>
              </a:spcAft>
              <a:buClr>
                <a:schemeClr val="dk1"/>
              </a:buClr>
              <a:buSzPts val="2400"/>
              <a:buNone/>
            </a:pPr>
            <a:r>
              <a:t/>
            </a:r>
            <a:endParaRPr sz="2600">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Timeline of the Project (Gantt Chart)</a:t>
            </a:r>
            <a:endParaRPr>
              <a:latin typeface="Cambria"/>
              <a:ea typeface="Cambria"/>
              <a:cs typeface="Cambria"/>
              <a:sym typeface="Cambria"/>
            </a:endParaRPr>
          </a:p>
        </p:txBody>
      </p:sp>
      <p:sp>
        <p:nvSpPr>
          <p:cNvPr id="146" name="Google Shape;146;p9"/>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p:txBody>
      </p:sp>
      <p:pic>
        <p:nvPicPr>
          <p:cNvPr id="147" name="Google Shape;147;p9" title="image.png"/>
          <p:cNvPicPr preferRelativeResize="0"/>
          <p:nvPr/>
        </p:nvPicPr>
        <p:blipFill>
          <a:blip r:embed="rId3">
            <a:alphaModFix/>
          </a:blip>
          <a:stretch>
            <a:fillRect/>
          </a:stretch>
        </p:blipFill>
        <p:spPr>
          <a:xfrm>
            <a:off x="812800" y="1143000"/>
            <a:ext cx="9003925" cy="4814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Github Link</a:t>
            </a:r>
            <a:endParaRPr>
              <a:latin typeface="Cambria"/>
              <a:ea typeface="Cambria"/>
              <a:cs typeface="Cambria"/>
              <a:sym typeface="Cambria"/>
            </a:endParaRPr>
          </a:p>
        </p:txBody>
      </p:sp>
      <p:sp>
        <p:nvSpPr>
          <p:cNvPr id="153" name="Google Shape;153;p6"/>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p:txBody>
      </p:sp>
      <p:sp>
        <p:nvSpPr>
          <p:cNvPr id="154" name="Google Shape;154;p6"/>
          <p:cNvSpPr txBox="1"/>
          <p:nvPr/>
        </p:nvSpPr>
        <p:spPr>
          <a:xfrm>
            <a:off x="965200" y="1295400"/>
            <a:ext cx="10668000" cy="49530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p:txBody>
      </p:sp>
      <p:sp>
        <p:nvSpPr>
          <p:cNvPr id="155" name="Google Shape;155;p6"/>
          <p:cNvSpPr txBox="1"/>
          <p:nvPr/>
        </p:nvSpPr>
        <p:spPr>
          <a:xfrm>
            <a:off x="812800" y="1143000"/>
            <a:ext cx="10668000" cy="41783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Cambria"/>
                <a:ea typeface="Cambria"/>
                <a:cs typeface="Cambria"/>
                <a:sym typeface="Cambria"/>
              </a:rPr>
              <a:t>The Github link provided should have public access permission.</a:t>
            </a:r>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rPr b="1" i="0" lang="en-US" sz="2400" u="none" cap="none" strike="noStrike">
                <a:solidFill>
                  <a:srgbClr val="953734"/>
                </a:solidFill>
                <a:latin typeface="Cambria"/>
                <a:ea typeface="Cambria"/>
                <a:cs typeface="Cambria"/>
                <a:sym typeface="Cambria"/>
              </a:rPr>
              <a:t>Github Link</a:t>
            </a:r>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References (IEEE Paper format)</a:t>
            </a:r>
            <a:endParaRPr>
              <a:latin typeface="Cambria"/>
              <a:ea typeface="Cambria"/>
              <a:cs typeface="Cambria"/>
              <a:sym typeface="Cambria"/>
            </a:endParaRPr>
          </a:p>
        </p:txBody>
      </p:sp>
      <p:sp>
        <p:nvSpPr>
          <p:cNvPr id="170" name="Google Shape;170;p1"/>
          <p:cNvSpPr txBox="1"/>
          <p:nvPr>
            <p:ph idx="1" type="body"/>
          </p:nvPr>
        </p:nvSpPr>
        <p:spPr>
          <a:xfrm>
            <a:off x="812800" y="952501"/>
            <a:ext cx="10668000" cy="4953000"/>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00000"/>
              </a:lnSpc>
              <a:spcBef>
                <a:spcPts val="1200"/>
              </a:spcBef>
              <a:spcAft>
                <a:spcPts val="0"/>
              </a:spcAft>
              <a:buSzPct val="150000"/>
              <a:buNone/>
            </a:pPr>
            <a:r>
              <a:t/>
            </a:r>
            <a:endParaRPr sz="1600">
              <a:latin typeface="Arial"/>
              <a:ea typeface="Arial"/>
              <a:cs typeface="Arial"/>
              <a:sym typeface="Arial"/>
            </a:endParaRPr>
          </a:p>
          <a:p>
            <a:pPr indent="0" lvl="0" marL="152400" rtl="0" algn="l">
              <a:lnSpc>
                <a:spcPct val="100000"/>
              </a:lnSpc>
              <a:spcBef>
                <a:spcPts val="1200"/>
              </a:spcBef>
              <a:spcAft>
                <a:spcPts val="0"/>
              </a:spcAft>
              <a:buSzPct val="150000"/>
              <a:buNone/>
            </a:pPr>
            <a:r>
              <a:rPr lang="en-US" sz="1600">
                <a:latin typeface="Arial"/>
                <a:ea typeface="Arial"/>
                <a:cs typeface="Arial"/>
                <a:sym typeface="Arial"/>
              </a:rPr>
              <a:t>[1] M. Grieves and J. Vickers, “Digital Twin: Mitigating Unpredictable, Undesirable Emergent Behavior in Complex Systems,” in Transdisciplinary Perspectives on Complex Systems, Springer, 2017. </a:t>
            </a:r>
            <a:endParaRPr sz="1600">
              <a:latin typeface="Arial"/>
              <a:ea typeface="Arial"/>
              <a:cs typeface="Arial"/>
              <a:sym typeface="Arial"/>
            </a:endParaRPr>
          </a:p>
          <a:p>
            <a:pPr indent="0" lvl="0" marL="152400" rtl="0" algn="l">
              <a:lnSpc>
                <a:spcPct val="100000"/>
              </a:lnSpc>
              <a:spcBef>
                <a:spcPts val="1200"/>
              </a:spcBef>
              <a:spcAft>
                <a:spcPts val="0"/>
              </a:spcAft>
              <a:buSzPct val="150000"/>
              <a:buNone/>
            </a:pPr>
            <a:r>
              <a:rPr lang="en-US" sz="1600">
                <a:latin typeface="Arial"/>
                <a:ea typeface="Arial"/>
                <a:cs typeface="Arial"/>
                <a:sym typeface="Arial"/>
              </a:rPr>
              <a:t>[2] F. Tao, Q. Qi, L. Wang, and A. Y. C. Nee, “Digital Twins and Cyber–Physical Systems toward Smart Manufacturing and Industry 4.0: Correlation and Comparison,” Engineering, 2019. </a:t>
            </a:r>
            <a:endParaRPr sz="1600">
              <a:latin typeface="Arial"/>
              <a:ea typeface="Arial"/>
              <a:cs typeface="Arial"/>
              <a:sym typeface="Arial"/>
            </a:endParaRPr>
          </a:p>
          <a:p>
            <a:pPr indent="0" lvl="0" marL="152400" rtl="0" algn="l">
              <a:lnSpc>
                <a:spcPct val="100000"/>
              </a:lnSpc>
              <a:spcBef>
                <a:spcPts val="1200"/>
              </a:spcBef>
              <a:spcAft>
                <a:spcPts val="0"/>
              </a:spcAft>
              <a:buSzPct val="150000"/>
              <a:buNone/>
            </a:pPr>
            <a:r>
              <a:rPr lang="en-US" sz="1600">
                <a:latin typeface="Arial"/>
                <a:ea typeface="Arial"/>
                <a:cs typeface="Arial"/>
                <a:sym typeface="Arial"/>
              </a:rPr>
              <a:t>[3] IEC, IEC 62832-1:2020 Digital Factory—General principles, 2020 (official PDF excerpt). </a:t>
            </a:r>
            <a:endParaRPr sz="1600">
              <a:latin typeface="Arial"/>
              <a:ea typeface="Arial"/>
              <a:cs typeface="Arial"/>
              <a:sym typeface="Arial"/>
            </a:endParaRPr>
          </a:p>
          <a:p>
            <a:pPr indent="0" lvl="0" marL="152400" rtl="0" algn="l">
              <a:lnSpc>
                <a:spcPct val="100000"/>
              </a:lnSpc>
              <a:spcBef>
                <a:spcPts val="1200"/>
              </a:spcBef>
              <a:spcAft>
                <a:spcPts val="0"/>
              </a:spcAft>
              <a:buSzPct val="150000"/>
              <a:buNone/>
            </a:pPr>
            <a:r>
              <a:rPr lang="en-US" sz="1600">
                <a:latin typeface="Arial"/>
                <a:ea typeface="Arial"/>
                <a:cs typeface="Arial"/>
                <a:sym typeface="Arial"/>
              </a:rPr>
              <a:t>[4] OPC Foundation, “OPC UA—Interoperability for Industrie 4.0 and IoT (IEC 62541),” brochure, 2023. </a:t>
            </a:r>
            <a:endParaRPr sz="1600">
              <a:latin typeface="Arial"/>
              <a:ea typeface="Arial"/>
              <a:cs typeface="Arial"/>
              <a:sym typeface="Arial"/>
            </a:endParaRPr>
          </a:p>
          <a:p>
            <a:pPr indent="0" lvl="0" marL="152400" rtl="0" algn="l">
              <a:lnSpc>
                <a:spcPct val="100000"/>
              </a:lnSpc>
              <a:spcBef>
                <a:spcPts val="1200"/>
              </a:spcBef>
              <a:spcAft>
                <a:spcPts val="0"/>
              </a:spcAft>
              <a:buSzPct val="150000"/>
              <a:buNone/>
            </a:pPr>
            <a:r>
              <a:rPr lang="en-US" sz="1600">
                <a:latin typeface="Arial"/>
                <a:ea typeface="Arial"/>
                <a:cs typeface="Arial"/>
                <a:sym typeface="Arial"/>
              </a:rPr>
              <a:t>[5] J. V. S. do Amaral et al., “Energy Digital Twin applications: A review,” Renewable and Sustainable Energy Reviews, 2023. </a:t>
            </a:r>
            <a:endParaRPr sz="1600">
              <a:latin typeface="Arial"/>
              <a:ea typeface="Arial"/>
              <a:cs typeface="Arial"/>
              <a:sym typeface="Arial"/>
            </a:endParaRPr>
          </a:p>
          <a:p>
            <a:pPr indent="0" lvl="0" marL="152400" rtl="0" algn="l">
              <a:lnSpc>
                <a:spcPct val="100000"/>
              </a:lnSpc>
              <a:spcBef>
                <a:spcPts val="1200"/>
              </a:spcBef>
              <a:spcAft>
                <a:spcPts val="0"/>
              </a:spcAft>
              <a:buSzPct val="150000"/>
              <a:buNone/>
            </a:pPr>
            <a:r>
              <a:rPr lang="en-US" sz="1600">
                <a:latin typeface="Arial"/>
                <a:ea typeface="Arial"/>
                <a:cs typeface="Arial"/>
                <a:sym typeface="Arial"/>
              </a:rPr>
              <a:t>[6] N. Mohamed, S. Lazarova-Molnar, and J. Al-Jaroodi, “Digital Twins for Energy-Efficient Manufacturing,” IEEE SysCon, 2023. </a:t>
            </a:r>
            <a:endParaRPr sz="1600">
              <a:latin typeface="Arial"/>
              <a:ea typeface="Arial"/>
              <a:cs typeface="Arial"/>
              <a:sym typeface="Arial"/>
            </a:endParaRPr>
          </a:p>
          <a:p>
            <a:pPr indent="0" lvl="0" marL="152400" rtl="0" algn="l">
              <a:lnSpc>
                <a:spcPct val="100000"/>
              </a:lnSpc>
              <a:spcBef>
                <a:spcPts val="1200"/>
              </a:spcBef>
              <a:spcAft>
                <a:spcPts val="0"/>
              </a:spcAft>
              <a:buSzPct val="150000"/>
              <a:buNone/>
            </a:pPr>
            <a:r>
              <a:rPr lang="en-US" sz="1600">
                <a:latin typeface="Arial"/>
                <a:ea typeface="Arial"/>
                <a:cs typeface="Arial"/>
                <a:sym typeface="Arial"/>
              </a:rPr>
              <a:t>[7] E. Cagno et al., “Energy management and Industry 4.0: Analysis of the digital transformation of energy efficiency programs,” Applied Energy, 2025. </a:t>
            </a:r>
            <a:endParaRPr sz="1600">
              <a:latin typeface="Arial"/>
              <a:ea typeface="Arial"/>
              <a:cs typeface="Arial"/>
              <a:sym typeface="Arial"/>
            </a:endParaRPr>
          </a:p>
          <a:p>
            <a:pPr indent="0" lvl="0" marL="152400" rtl="0" algn="l">
              <a:lnSpc>
                <a:spcPct val="100000"/>
              </a:lnSpc>
              <a:spcBef>
                <a:spcPts val="1200"/>
              </a:spcBef>
              <a:spcAft>
                <a:spcPts val="0"/>
              </a:spcAft>
              <a:buSzPct val="150000"/>
              <a:buNone/>
            </a:pPr>
            <a:r>
              <a:rPr lang="en-US" sz="1600">
                <a:latin typeface="Arial"/>
                <a:ea typeface="Arial"/>
                <a:cs typeface="Arial"/>
                <a:sym typeface="Arial"/>
              </a:rPr>
              <a:t>[8] S. Lazarova-Molnar, A. Bilali, and L. Chelbi, “A Vision for Advancing Digital Twins Intelligence,” VISIGRAPP/SCITEPRESS, 2024. </a:t>
            </a:r>
            <a:endParaRPr sz="1600">
              <a:latin typeface="Arial"/>
              <a:ea typeface="Arial"/>
              <a:cs typeface="Arial"/>
              <a:sym typeface="Arial"/>
            </a:endParaRPr>
          </a:p>
          <a:p>
            <a:pPr indent="0" lvl="0" marL="152400" rtl="0" algn="l">
              <a:lnSpc>
                <a:spcPct val="100000"/>
              </a:lnSpc>
              <a:spcBef>
                <a:spcPts val="1200"/>
              </a:spcBef>
              <a:spcAft>
                <a:spcPts val="0"/>
              </a:spcAft>
              <a:buSzPct val="150000"/>
              <a:buNone/>
            </a:pPr>
            <a:r>
              <a:rPr lang="en-US" sz="1600">
                <a:latin typeface="Arial"/>
                <a:ea typeface="Arial"/>
                <a:cs typeface="Arial"/>
                <a:sym typeface="Arial"/>
              </a:rPr>
              <a:t>[9] T. Xia et al., “Digital twin-based real-time energy optimization method for production line considering fault disturbances,” Journal of Intelligent Manufacturing, 2025. </a:t>
            </a:r>
            <a:endParaRPr sz="1600">
              <a:latin typeface="Arial"/>
              <a:ea typeface="Arial"/>
              <a:cs typeface="Arial"/>
              <a:sym typeface="Arial"/>
            </a:endParaRPr>
          </a:p>
          <a:p>
            <a:pPr indent="0" lvl="0" marL="152400" rtl="0" algn="l">
              <a:lnSpc>
                <a:spcPct val="100000"/>
              </a:lnSpc>
              <a:spcBef>
                <a:spcPts val="1200"/>
              </a:spcBef>
              <a:spcAft>
                <a:spcPts val="0"/>
              </a:spcAft>
              <a:buSzPct val="150000"/>
              <a:buNone/>
            </a:pPr>
            <a:r>
              <a:rPr lang="en-US" sz="1600">
                <a:latin typeface="Arial"/>
                <a:ea typeface="Arial"/>
                <a:cs typeface="Arial"/>
                <a:sym typeface="Arial"/>
              </a:rPr>
              <a:t>[10] A. Billey and T. Wuest, “Energy Digital Twins in Smart Manufacturing Systems,” Robotics and Computer-Integrated Manufacturing, 2024 (heating tunnel case). </a:t>
            </a:r>
            <a:endParaRPr sz="1600">
              <a:latin typeface="Arial"/>
              <a:ea typeface="Arial"/>
              <a:cs typeface="Arial"/>
              <a:sym typeface="Arial"/>
            </a:endParaRPr>
          </a:p>
          <a:p>
            <a:pPr indent="0" lvl="0" marL="152400" rtl="0" algn="l">
              <a:lnSpc>
                <a:spcPct val="100000"/>
              </a:lnSpc>
              <a:spcBef>
                <a:spcPts val="1200"/>
              </a:spcBef>
              <a:spcAft>
                <a:spcPts val="0"/>
              </a:spcAft>
              <a:buSzPct val="150000"/>
              <a:buNone/>
            </a:pPr>
            <a:r>
              <a:rPr lang="en-US" sz="1600">
                <a:latin typeface="Arial"/>
                <a:ea typeface="Arial"/>
                <a:cs typeface="Arial"/>
                <a:sym typeface="Arial"/>
              </a:rPr>
              <a:t>[11] A. Khdoudi et al., “A Deep-Reinforcement-Learning-Based Digital Twin for Manufacturing Process Optimization,” Systems, 2024. </a:t>
            </a:r>
            <a:endParaRPr sz="1600">
              <a:latin typeface="Arial"/>
              <a:ea typeface="Arial"/>
              <a:cs typeface="Arial"/>
              <a:sym typeface="Arial"/>
            </a:endParaRPr>
          </a:p>
          <a:p>
            <a:pPr indent="0" lvl="0" marL="152400" rtl="0" algn="l">
              <a:lnSpc>
                <a:spcPct val="100000"/>
              </a:lnSpc>
              <a:spcBef>
                <a:spcPts val="1200"/>
              </a:spcBef>
              <a:spcAft>
                <a:spcPts val="0"/>
              </a:spcAft>
              <a:buSzPct val="150000"/>
              <a:buNone/>
            </a:pPr>
            <a:r>
              <a:rPr lang="en-US" sz="1600">
                <a:latin typeface="Arial"/>
                <a:ea typeface="Arial"/>
                <a:cs typeface="Arial"/>
                <a:sym typeface="Arial"/>
              </a:rPr>
              <a:t>[12] D. Bousnina and G. Guerassimoff, “Optimal energy management in smart energy systems: A deep reinforcement learning approach and a digital twin case-study,” Smart Energy, 2024. </a:t>
            </a:r>
            <a:endParaRPr sz="1600">
              <a:latin typeface="Arial"/>
              <a:ea typeface="Arial"/>
              <a:cs typeface="Arial"/>
              <a:sym typeface="Arial"/>
            </a:endParaRPr>
          </a:p>
          <a:p>
            <a:pPr indent="0" lvl="0" marL="152400" rtl="0" algn="l">
              <a:lnSpc>
                <a:spcPct val="100000"/>
              </a:lnSpc>
              <a:spcBef>
                <a:spcPts val="1200"/>
              </a:spcBef>
              <a:spcAft>
                <a:spcPts val="0"/>
              </a:spcAft>
              <a:buSzPct val="150000"/>
              <a:buNone/>
            </a:pPr>
            <a:r>
              <a:rPr lang="en-US" sz="1600">
                <a:latin typeface="Arial"/>
                <a:ea typeface="Arial"/>
                <a:cs typeface="Arial"/>
                <a:sym typeface="Arial"/>
              </a:rPr>
              <a:t>[13] G. Rolofs et al., “Integrating Digital Twins and Cyber-Physical Systems for Flexible Energy Management in Manufacturing Facilities: A Conceptual Framework,” Electronics, 2024. </a:t>
            </a:r>
            <a:endParaRPr sz="1600">
              <a:latin typeface="Arial"/>
              <a:ea typeface="Arial"/>
              <a:cs typeface="Arial"/>
              <a:sym typeface="Arial"/>
            </a:endParaRPr>
          </a:p>
          <a:p>
            <a:pPr indent="0" lvl="0" marL="152400" rtl="0" algn="l">
              <a:lnSpc>
                <a:spcPct val="100000"/>
              </a:lnSpc>
              <a:spcBef>
                <a:spcPts val="1200"/>
              </a:spcBef>
              <a:spcAft>
                <a:spcPts val="0"/>
              </a:spcAft>
              <a:buSzPct val="150000"/>
              <a:buNone/>
            </a:pPr>
            <a:r>
              <a:rPr lang="en-US" sz="1600">
                <a:latin typeface="Arial"/>
                <a:ea typeface="Arial"/>
                <a:cs typeface="Arial"/>
                <a:sym typeface="Arial"/>
              </a:rPr>
              <a:t>[14] M. Soori et al., “Digital twin for smart manufacturing: A review,” Journal of Manufacturing Systems, 2023. </a:t>
            </a:r>
            <a:endParaRPr sz="1600">
              <a:latin typeface="Arial"/>
              <a:ea typeface="Arial"/>
              <a:cs typeface="Arial"/>
              <a:sym typeface="Arial"/>
            </a:endParaRPr>
          </a:p>
          <a:p>
            <a:pPr indent="0" lvl="0" marL="152400" rtl="0" algn="l">
              <a:lnSpc>
                <a:spcPct val="100000"/>
              </a:lnSpc>
              <a:spcBef>
                <a:spcPts val="1200"/>
              </a:spcBef>
              <a:spcAft>
                <a:spcPts val="0"/>
              </a:spcAft>
              <a:buSzPct val="150000"/>
              <a:buNone/>
            </a:pPr>
            <a:r>
              <a:rPr lang="en-US" sz="1600">
                <a:latin typeface="Arial"/>
                <a:ea typeface="Arial"/>
                <a:cs typeface="Arial"/>
                <a:sym typeface="Arial"/>
              </a:rPr>
              <a:t>[15] D. Vance et al., “Next-Level Energy Management in Manufacturing: Facility-Level Energy Digital Twin Framework Based on Machine Learning and Automated Data Collection,” Energies, 2025. </a:t>
            </a:r>
            <a:endParaRPr sz="1600">
              <a:latin typeface="Arial"/>
              <a:ea typeface="Arial"/>
              <a:cs typeface="Arial"/>
              <a:sym typeface="Arial"/>
            </a:endParaRPr>
          </a:p>
          <a:p>
            <a:pPr indent="0" lvl="0" marL="152400" rtl="0" algn="l">
              <a:lnSpc>
                <a:spcPct val="100000"/>
              </a:lnSpc>
              <a:spcBef>
                <a:spcPts val="1200"/>
              </a:spcBef>
              <a:spcAft>
                <a:spcPts val="0"/>
              </a:spcAft>
              <a:buSzPct val="150000"/>
              <a:buNone/>
            </a:pPr>
            <a:r>
              <a:t/>
            </a:r>
            <a:endParaRPr sz="1600">
              <a:latin typeface="Arial"/>
              <a:ea typeface="Arial"/>
              <a:cs typeface="Arial"/>
              <a:sym typeface="Arial"/>
            </a:endParaRPr>
          </a:p>
          <a:p>
            <a:pPr indent="0" lvl="0" marL="152400" rtl="0" algn="l">
              <a:lnSpc>
                <a:spcPct val="100000"/>
              </a:lnSpc>
              <a:spcBef>
                <a:spcPts val="0"/>
              </a:spcBef>
              <a:spcAft>
                <a:spcPts val="0"/>
              </a:spcAft>
              <a:buSzPct val="100000"/>
              <a:buNone/>
            </a:pPr>
            <a:r>
              <a:t/>
            </a:r>
            <a:endParaRPr>
              <a:latin typeface="Cambria"/>
              <a:ea typeface="Cambria"/>
              <a:cs typeface="Cambria"/>
              <a:sym typeface="Cambria"/>
            </a:endParaRPr>
          </a:p>
          <a:p>
            <a:pPr indent="0" lvl="0" marL="152400" rtl="0" algn="l">
              <a:lnSpc>
                <a:spcPct val="100000"/>
              </a:lnSpc>
              <a:spcBef>
                <a:spcPts val="0"/>
              </a:spcBef>
              <a:spcAft>
                <a:spcPts val="0"/>
              </a:spcAft>
              <a:buSzPct val="100000"/>
              <a:buNone/>
            </a:pPr>
            <a:r>
              <a:t/>
            </a:r>
            <a:endParaRPr>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11"/>
          <p:cNvPicPr preferRelativeResize="0"/>
          <p:nvPr/>
        </p:nvPicPr>
        <p:blipFill rotWithShape="1">
          <a:blip r:embed="rId3">
            <a:alphaModFix/>
          </a:blip>
          <a:srcRect b="0" l="0" r="0" t="0"/>
          <a:stretch/>
        </p:blipFill>
        <p:spPr>
          <a:xfrm>
            <a:off x="4082811" y="1441315"/>
            <a:ext cx="3893305" cy="393547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